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-bas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CFF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background-aqua-bloom"/>
          <p:cNvSpPr>
            <a:spLocks noGrp="1"/>
          </p:cNvSpPr>
          <p:nvPr/>
        </p:nvSpPr>
        <p:spPr>
          <a:xfrm>
            <a:off x="-857250" y="-1143000"/>
            <a:ext cx="4953000" cy="3524250"/>
          </a:xfrm>
          <a:prstGeom prst="ellipse">
            <a:avLst/>
          </a:prstGeom>
          <a:solidFill>
            <a:srgbClr val="83DEFF">
              <a:alpha val="33333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background-mint-bloom"/>
          <p:cNvSpPr>
            <a:spLocks noGrp="1"/>
          </p:cNvSpPr>
          <p:nvPr/>
        </p:nvSpPr>
        <p:spPr>
          <a:xfrm>
            <a:off x="7524750" y="-1428750"/>
            <a:ext cx="4953000" cy="4000500"/>
          </a:xfrm>
          <a:prstGeom prst="ellipse">
            <a:avLst/>
          </a:prstGeom>
          <a:solidFill>
            <a:srgbClr val="B2FFF0">
              <a:alpha val="41569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background-blue-bloom"/>
          <p:cNvSpPr>
            <a:spLocks noGrp="1"/>
          </p:cNvSpPr>
          <p:nvPr/>
        </p:nvSpPr>
        <p:spPr>
          <a:xfrm>
            <a:off x="5334000" y="4476750"/>
            <a:ext cx="5143500" cy="2857500"/>
          </a:xfrm>
          <a:prstGeom prst="ellipse">
            <a:avLst/>
          </a:prstGeom>
          <a:solidFill>
            <a:srgbClr val="5FA8FF">
              <a:alpha val="16471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background-white-wash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27059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page-glass-frame"/>
          <p:cNvSpPr>
            <a:spLocks noGrp="1"/>
          </p:cNvSpPr>
          <p:nvPr/>
        </p:nvSpPr>
        <p:spPr>
          <a:xfrm>
            <a:off x="323850" y="285750"/>
            <a:ext cx="11544300" cy="6286500"/>
          </a:xfrm>
          <a:prstGeom prst="roundRect">
            <a:avLst>
              <a:gd name="adj" fmla="val 1212"/>
            </a:avLst>
          </a:prstGeom>
          <a:solidFill>
            <a:srgbClr val="FFFFFF">
              <a:alpha val="25882"/>
            </a:srgbClr>
          </a:solidFill>
          <a:ln w="9525">
            <a:solidFill>
              <a:srgbClr val="FFFFFF">
                <a:alpha val="65882"/>
              </a:srgbClr>
            </a:solidFill>
            <a:prstDash val="solid"/>
          </a:ln>
        </p:spPr>
      </p:sp>
      <p:sp>
        <p:nvSpPr>
          <p:cNvPr id="8" name="kicker-shadow"/>
          <p:cNvSpPr>
            <a:spLocks noGrp="1"/>
          </p:cNvSpPr>
          <p:nvPr/>
        </p:nvSpPr>
        <p:spPr>
          <a:xfrm>
            <a:off x="504825" y="447675"/>
            <a:ext cx="1952625" cy="323850"/>
          </a:xfrm>
          <a:prstGeom prst="roundRect">
            <a:avLst>
              <a:gd name="adj" fmla="val 23529"/>
            </a:avLst>
          </a:prstGeom>
          <a:solidFill>
            <a:srgbClr val="0B6091">
              <a:alpha val="549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kicker"/>
          <p:cNvSpPr>
            <a:spLocks noGrp="1"/>
          </p:cNvSpPr>
          <p:nvPr/>
        </p:nvSpPr>
        <p:spPr>
          <a:xfrm>
            <a:off x="476250" y="400050"/>
            <a:ext cx="1952625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56078"/>
            </a:srgbClr>
          </a:solidFill>
          <a:ln w="11430">
            <a:solidFill>
              <a:srgbClr val="FFFFFF">
                <a:alpha val="84706"/>
              </a:srgbClr>
            </a:solidFill>
            <a:prstDash val="solid"/>
          </a:ln>
        </p:spPr>
      </p:sp>
      <p:sp>
        <p:nvSpPr>
          <p:cNvPr id="10" name="kicker-highlight"/>
          <p:cNvSpPr>
            <a:spLocks noGrp="1"/>
          </p:cNvSpPr>
          <p:nvPr/>
        </p:nvSpPr>
        <p:spPr>
          <a:xfrm>
            <a:off x="628650" y="514350"/>
            <a:ext cx="1647825" cy="71247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kicker-dot"/>
          <p:cNvSpPr>
            <a:spLocks noGrp="1"/>
          </p:cNvSpPr>
          <p:nvPr/>
        </p:nvSpPr>
        <p:spPr>
          <a:xfrm>
            <a:off x="600075" y="504825"/>
            <a:ext cx="114300" cy="114300"/>
          </a:xfrm>
          <a:prstGeom prst="ellipse">
            <a:avLst/>
          </a:prstGeom>
          <a:solidFill>
            <a:srgbClr val="19C7AE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kicker-label"/>
          <p:cNvSpPr>
            <a:spLocks noGrp="1"/>
          </p:cNvSpPr>
          <p:nvPr/>
        </p:nvSpPr>
        <p:spPr>
          <a:xfrm>
            <a:off x="781050" y="457200"/>
            <a:ext cx="1514475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40" b="1">
                <a:solidFill>
                  <a:srgbClr val="007FB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007FB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黑客松 · 一页方案设计</a:t>
            </a:r>
            <a:endParaRPr sz="940" b="1">
              <a:solidFill>
                <a:srgbClr val="007FB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boundary-pill-shadow"/>
          <p:cNvSpPr>
            <a:spLocks noGrp="1"/>
          </p:cNvSpPr>
          <p:nvPr/>
        </p:nvSpPr>
        <p:spPr>
          <a:xfrm>
            <a:off x="9458325" y="447675"/>
            <a:ext cx="2266950" cy="323850"/>
          </a:xfrm>
          <a:prstGeom prst="roundRect">
            <a:avLst>
              <a:gd name="adj" fmla="val 23529"/>
            </a:avLst>
          </a:prstGeom>
          <a:solidFill>
            <a:srgbClr val="0B6091">
              <a:alpha val="549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boundary-pill"/>
          <p:cNvSpPr>
            <a:spLocks noGrp="1"/>
          </p:cNvSpPr>
          <p:nvPr/>
        </p:nvSpPr>
        <p:spPr>
          <a:xfrm>
            <a:off x="9429750" y="400050"/>
            <a:ext cx="22669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53333"/>
            </a:srgbClr>
          </a:solidFill>
          <a:ln w="11430">
            <a:solidFill>
              <a:srgbClr val="FFFFFF">
                <a:alpha val="84706"/>
              </a:srgbClr>
            </a:solidFill>
            <a:prstDash val="solid"/>
          </a:ln>
        </p:spPr>
      </p:sp>
      <p:sp>
        <p:nvSpPr>
          <p:cNvPr id="15" name="boundary-pill-highlight"/>
          <p:cNvSpPr>
            <a:spLocks noGrp="1"/>
          </p:cNvSpPr>
          <p:nvPr/>
        </p:nvSpPr>
        <p:spPr>
          <a:xfrm>
            <a:off x="9582150" y="514350"/>
            <a:ext cx="1962150" cy="71247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boundary-pill-dot"/>
          <p:cNvSpPr>
            <a:spLocks noGrp="1"/>
          </p:cNvSpPr>
          <p:nvPr/>
        </p:nvSpPr>
        <p:spPr>
          <a:xfrm>
            <a:off x="9553575" y="504825"/>
            <a:ext cx="114300" cy="114300"/>
          </a:xfrm>
          <a:prstGeom prst="ellipse">
            <a:avLst/>
          </a:prstGeom>
          <a:solidFill>
            <a:srgbClr val="E28225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boundary-pill-label"/>
          <p:cNvSpPr>
            <a:spLocks noGrp="1"/>
          </p:cNvSpPr>
          <p:nvPr/>
        </p:nvSpPr>
        <p:spPr>
          <a:xfrm>
            <a:off x="9734550" y="457200"/>
            <a:ext cx="18288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40" b="1">
                <a:solidFill>
                  <a:srgbClr val="9B5A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9B5A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Demo 1.0：先读后写，模拟分发</a:t>
            </a:r>
            <a:endParaRPr sz="940" b="1">
              <a:solidFill>
                <a:srgbClr val="9B5A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itle"/>
          <p:cNvSpPr>
            <a:spLocks noGrp="1"/>
          </p:cNvSpPr>
          <p:nvPr/>
        </p:nvSpPr>
        <p:spPr>
          <a:xfrm>
            <a:off x="476250" y="838200"/>
            <a:ext cx="43815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92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项目自治运营平台</a:t>
            </a:r>
            <a:endParaRPr sz="2925" b="1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subtitle"/>
          <p:cNvSpPr>
            <a:spLocks noGrp="1"/>
          </p:cNvSpPr>
          <p:nvPr/>
        </p:nvSpPr>
        <p:spPr>
          <a:xfrm>
            <a:off x="495300" y="1352550"/>
            <a:ext cx="704850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857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38576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 AI 把项目风险识别、任务生成、交付验收、催办预警和经营报告收敛为自治闭环</a:t>
            </a:r>
            <a:endParaRPr sz="1200" b="0">
              <a:solidFill>
                <a:srgbClr val="38576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ai-liquid-core-shadow"/>
          <p:cNvSpPr>
            <a:spLocks noGrp="1"/>
          </p:cNvSpPr>
          <p:nvPr/>
        </p:nvSpPr>
        <p:spPr>
          <a:xfrm>
            <a:off x="5086350" y="1790700"/>
            <a:ext cx="2171700" cy="781050"/>
          </a:xfrm>
          <a:prstGeom prst="ellipse">
            <a:avLst/>
          </a:prstGeom>
          <a:solidFill>
            <a:srgbClr val="008ACB">
              <a:alpha val="9412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ai-liquid-core"/>
          <p:cNvSpPr>
            <a:spLocks noGrp="1"/>
          </p:cNvSpPr>
          <p:nvPr/>
        </p:nvSpPr>
        <p:spPr>
          <a:xfrm>
            <a:off x="5010150" y="1657350"/>
            <a:ext cx="2171700" cy="781050"/>
          </a:xfrm>
          <a:prstGeom prst="ellipse">
            <a:avLst/>
          </a:prstGeom>
          <a:solidFill>
            <a:srgbClr val="FFFFFF">
              <a:alpha val="33333"/>
            </a:srgbClr>
          </a:solidFill>
          <a:ln w="13335">
            <a:solidFill>
              <a:srgbClr val="B8F4FF">
                <a:alpha val="66667"/>
              </a:srgbClr>
            </a:solidFill>
            <a:prstDash val="solid"/>
          </a:ln>
        </p:spPr>
      </p:sp>
      <p:sp>
        <p:nvSpPr>
          <p:cNvPr id="22" name="ai-liquid-core-highlight"/>
          <p:cNvSpPr>
            <a:spLocks noGrp="1"/>
          </p:cNvSpPr>
          <p:nvPr/>
        </p:nvSpPr>
        <p:spPr>
          <a:xfrm>
            <a:off x="5162550" y="1771650"/>
            <a:ext cx="1866900" cy="171831"/>
          </a:xfrm>
          <a:prstGeom prst="roundRect">
            <a:avLst>
              <a:gd name="adj" fmla="val 44346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ai-liquid-core-inner"/>
          <p:cNvSpPr>
            <a:spLocks noGrp="1"/>
          </p:cNvSpPr>
          <p:nvPr/>
        </p:nvSpPr>
        <p:spPr>
          <a:xfrm>
            <a:off x="5524500" y="1790700"/>
            <a:ext cx="1143000" cy="438150"/>
          </a:xfrm>
          <a:prstGeom prst="ellipse">
            <a:avLst/>
          </a:prstGeom>
          <a:solidFill>
            <a:srgbClr val="48D7FF">
              <a:alpha val="13333"/>
            </a:srgbClr>
          </a:solidFill>
          <a:ln w="9525">
            <a:solidFill>
              <a:srgbClr val="FFFFFF">
                <a:alpha val="34510"/>
              </a:srgbClr>
            </a:solidFill>
            <a:prstDash val="solid"/>
          </a:ln>
        </p:spPr>
      </p:sp>
      <p:sp>
        <p:nvSpPr>
          <p:cNvPr id="24" name="ai-core-label"/>
          <p:cNvSpPr>
            <a:spLocks noGrp="1"/>
          </p:cNvSpPr>
          <p:nvPr/>
        </p:nvSpPr>
        <p:spPr>
          <a:xfrm>
            <a:off x="5638800" y="1838325"/>
            <a:ext cx="9144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0578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0578A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</a:t>
            </a:r>
            <a:endParaRPr sz="2325" b="1">
              <a:solidFill>
                <a:srgbClr val="0578A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ai-core-caption"/>
          <p:cNvSpPr>
            <a:spLocks noGrp="1"/>
          </p:cNvSpPr>
          <p:nvPr/>
        </p:nvSpPr>
        <p:spPr>
          <a:xfrm>
            <a:off x="4895850" y="2181225"/>
            <a:ext cx="24003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07FB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 b="1">
                <a:solidFill>
                  <a:srgbClr val="007FB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节点感知 · 证据链 · 闭环动作</a:t>
            </a:r>
            <a:endParaRPr sz="900" b="1">
              <a:solidFill>
                <a:srgbClr val="007FB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flow-input-shadow"/>
          <p:cNvSpPr>
            <a:spLocks noGrp="1"/>
          </p:cNvSpPr>
          <p:nvPr/>
        </p:nvSpPr>
        <p:spPr>
          <a:xfrm>
            <a:off x="638175" y="2552700"/>
            <a:ext cx="2457450" cy="1562100"/>
          </a:xfrm>
          <a:prstGeom prst="roundRect">
            <a:avLst>
              <a:gd name="adj" fmla="val 4878"/>
            </a:avLst>
          </a:prstGeom>
          <a:solidFill>
            <a:srgbClr val="0B6091">
              <a:alpha val="10196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flow-input"/>
          <p:cNvSpPr>
            <a:spLocks noGrp="1"/>
          </p:cNvSpPr>
          <p:nvPr/>
        </p:nvSpPr>
        <p:spPr>
          <a:xfrm>
            <a:off x="590550" y="2476500"/>
            <a:ext cx="2457450" cy="1562100"/>
          </a:xfrm>
          <a:prstGeom prst="roundRect">
            <a:avLst>
              <a:gd name="adj" fmla="val 4878"/>
            </a:avLst>
          </a:prstGeom>
          <a:solidFill>
            <a:srgbClr val="FFFFFF">
              <a:alpha val="53333"/>
            </a:srgbClr>
          </a:solidFill>
          <a:ln w="11430">
            <a:solidFill>
              <a:srgbClr val="FFFFFF">
                <a:alpha val="82353"/>
              </a:srgbClr>
            </a:solidFill>
            <a:prstDash val="solid"/>
          </a:ln>
        </p:spPr>
      </p:sp>
      <p:sp>
        <p:nvSpPr>
          <p:cNvPr id="28" name="flow-input-highlight"/>
          <p:cNvSpPr>
            <a:spLocks noGrp="1"/>
          </p:cNvSpPr>
          <p:nvPr/>
        </p:nvSpPr>
        <p:spPr>
          <a:xfrm>
            <a:off x="742950" y="2590800"/>
            <a:ext cx="2152650" cy="228600"/>
          </a:xfrm>
          <a:prstGeom prst="roundRect">
            <a:avLst>
              <a:gd name="adj" fmla="val 33333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flow-input-icon-bg"/>
          <p:cNvSpPr>
            <a:spLocks noGrp="1"/>
          </p:cNvSpPr>
          <p:nvPr/>
        </p:nvSpPr>
        <p:spPr>
          <a:xfrm>
            <a:off x="742950" y="2628900"/>
            <a:ext cx="323850" cy="323850"/>
          </a:xfrm>
          <a:prstGeom prst="ellipse">
            <a:avLst/>
          </a:prstGeom>
          <a:solidFill>
            <a:srgbClr val="3578FF">
              <a:alpha val="18824"/>
            </a:srgbClr>
          </a:solidFill>
          <a:ln w="9525">
            <a:solidFill>
              <a:srgbClr val="3578FF">
                <a:alpha val="66667"/>
              </a:srgbClr>
            </a:solidFill>
            <a:prstDash val="solid"/>
          </a:ln>
        </p:spPr>
      </p:sp>
      <p:sp>
        <p:nvSpPr>
          <p:cNvPr id="30" name="flow-input-num"/>
          <p:cNvSpPr>
            <a:spLocks noGrp="1"/>
          </p:cNvSpPr>
          <p:nvPr/>
        </p:nvSpPr>
        <p:spPr>
          <a:xfrm>
            <a:off x="742950" y="2676525"/>
            <a:ext cx="3238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357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357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050" b="1">
              <a:solidFill>
                <a:srgbClr val="357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flow-input-title"/>
          <p:cNvSpPr>
            <a:spLocks noGrp="1"/>
          </p:cNvSpPr>
          <p:nvPr/>
        </p:nvSpPr>
        <p:spPr>
          <a:xfrm>
            <a:off x="1162050" y="2609850"/>
            <a:ext cx="17335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多源输入</a:t>
            </a:r>
            <a:endParaRPr sz="1350" b="1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flow-input-desc"/>
          <p:cNvSpPr>
            <a:spLocks noGrp="1"/>
          </p:cNvSpPr>
          <p:nvPr/>
        </p:nvSpPr>
        <p:spPr>
          <a:xfrm>
            <a:off x="762000" y="3028950"/>
            <a:ext cx="2114550" cy="419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项目交付件、群聊纪要、云文档与系统数据进入统一解析层。</a:t>
            </a:r>
            <a:endParaRPr sz="865" b="0">
              <a:solidFill>
                <a:srgbClr val="5067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flow-input-chip-0-shadow"/>
          <p:cNvSpPr>
            <a:spLocks noGrp="1"/>
          </p:cNvSpPr>
          <p:nvPr/>
        </p:nvSpPr>
        <p:spPr>
          <a:xfrm>
            <a:off x="790575" y="3590925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0B6091">
              <a:alpha val="549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flow-input-chip-0"/>
          <p:cNvSpPr>
            <a:spLocks noGrp="1"/>
          </p:cNvSpPr>
          <p:nvPr/>
        </p:nvSpPr>
        <p:spPr>
          <a:xfrm>
            <a:off x="762000" y="3543300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F7FDFF">
              <a:alpha val="66667"/>
            </a:srgbClr>
          </a:solidFill>
          <a:ln w="11430">
            <a:solidFill>
              <a:srgbClr val="BFEFFF">
                <a:alpha val="53333"/>
              </a:srgbClr>
            </a:solidFill>
            <a:prstDash val="solid"/>
          </a:ln>
        </p:spPr>
      </p:sp>
      <p:sp>
        <p:nvSpPr>
          <p:cNvPr id="35" name="flow-input-chip-0-highlight"/>
          <p:cNvSpPr>
            <a:spLocks noGrp="1"/>
          </p:cNvSpPr>
          <p:nvPr/>
        </p:nvSpPr>
        <p:spPr>
          <a:xfrm>
            <a:off x="914400" y="3657600"/>
            <a:ext cx="647700" cy="71247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flow-input-chip-0-label"/>
          <p:cNvSpPr>
            <a:spLocks noGrp="1"/>
          </p:cNvSpPr>
          <p:nvPr/>
        </p:nvSpPr>
        <p:spPr>
          <a:xfrm>
            <a:off x="895350" y="3600450"/>
            <a:ext cx="6858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357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1">
                <a:solidFill>
                  <a:srgbClr val="357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IPM / SPUG / TOnes</a:t>
            </a:r>
            <a:endParaRPr sz="705" b="1">
              <a:solidFill>
                <a:srgbClr val="357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flow-input-chip-1-shadow"/>
          <p:cNvSpPr>
            <a:spLocks noGrp="1"/>
          </p:cNvSpPr>
          <p:nvPr/>
        </p:nvSpPr>
        <p:spPr>
          <a:xfrm>
            <a:off x="1790700" y="3590925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0B6091">
              <a:alpha val="549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flow-input-chip-1"/>
          <p:cNvSpPr>
            <a:spLocks noGrp="1"/>
          </p:cNvSpPr>
          <p:nvPr/>
        </p:nvSpPr>
        <p:spPr>
          <a:xfrm>
            <a:off x="1762125" y="3543300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F7FDFF">
              <a:alpha val="66667"/>
            </a:srgbClr>
          </a:solidFill>
          <a:ln w="11430">
            <a:solidFill>
              <a:srgbClr val="BFEFFF">
                <a:alpha val="53333"/>
              </a:srgbClr>
            </a:solidFill>
            <a:prstDash val="solid"/>
          </a:ln>
        </p:spPr>
      </p:sp>
      <p:sp>
        <p:nvSpPr>
          <p:cNvPr id="39" name="flow-input-chip-1-highlight"/>
          <p:cNvSpPr>
            <a:spLocks noGrp="1"/>
          </p:cNvSpPr>
          <p:nvPr/>
        </p:nvSpPr>
        <p:spPr>
          <a:xfrm>
            <a:off x="1914525" y="3657600"/>
            <a:ext cx="647700" cy="71247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flow-input-chip-1-label"/>
          <p:cNvSpPr>
            <a:spLocks noGrp="1"/>
          </p:cNvSpPr>
          <p:nvPr/>
        </p:nvSpPr>
        <p:spPr>
          <a:xfrm>
            <a:off x="1895475" y="3600450"/>
            <a:ext cx="6858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357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1">
                <a:solidFill>
                  <a:srgbClr val="357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QMS / CRM / Trancare</a:t>
            </a:r>
            <a:endParaRPr sz="705" b="1">
              <a:solidFill>
                <a:srgbClr val="357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flow-reason-shadow"/>
          <p:cNvSpPr>
            <a:spLocks noGrp="1"/>
          </p:cNvSpPr>
          <p:nvPr/>
        </p:nvSpPr>
        <p:spPr>
          <a:xfrm>
            <a:off x="3381375" y="2552700"/>
            <a:ext cx="2457450" cy="1562100"/>
          </a:xfrm>
          <a:prstGeom prst="roundRect">
            <a:avLst>
              <a:gd name="adj" fmla="val 4878"/>
            </a:avLst>
          </a:prstGeom>
          <a:solidFill>
            <a:srgbClr val="0B6091">
              <a:alpha val="10196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flow-reason"/>
          <p:cNvSpPr>
            <a:spLocks noGrp="1"/>
          </p:cNvSpPr>
          <p:nvPr/>
        </p:nvSpPr>
        <p:spPr>
          <a:xfrm>
            <a:off x="3333750" y="2476500"/>
            <a:ext cx="2457450" cy="1562100"/>
          </a:xfrm>
          <a:prstGeom prst="roundRect">
            <a:avLst>
              <a:gd name="adj" fmla="val 4878"/>
            </a:avLst>
          </a:prstGeom>
          <a:solidFill>
            <a:srgbClr val="FFFFFF">
              <a:alpha val="53333"/>
            </a:srgbClr>
          </a:solidFill>
          <a:ln w="11430">
            <a:solidFill>
              <a:srgbClr val="FFFFFF">
                <a:alpha val="82353"/>
              </a:srgbClr>
            </a:solidFill>
            <a:prstDash val="solid"/>
          </a:ln>
        </p:spPr>
      </p:sp>
      <p:sp>
        <p:nvSpPr>
          <p:cNvPr id="43" name="flow-reason-highlight"/>
          <p:cNvSpPr>
            <a:spLocks noGrp="1"/>
          </p:cNvSpPr>
          <p:nvPr/>
        </p:nvSpPr>
        <p:spPr>
          <a:xfrm>
            <a:off x="3486150" y="2590800"/>
            <a:ext cx="2152650" cy="228600"/>
          </a:xfrm>
          <a:prstGeom prst="roundRect">
            <a:avLst>
              <a:gd name="adj" fmla="val 33333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flow-reason-icon-bg"/>
          <p:cNvSpPr>
            <a:spLocks noGrp="1"/>
          </p:cNvSpPr>
          <p:nvPr/>
        </p:nvSpPr>
        <p:spPr>
          <a:xfrm>
            <a:off x="3486150" y="2628900"/>
            <a:ext cx="323850" cy="323850"/>
          </a:xfrm>
          <a:prstGeom prst="ellipse">
            <a:avLst/>
          </a:prstGeom>
          <a:solidFill>
            <a:srgbClr val="16BDEB">
              <a:alpha val="18824"/>
            </a:srgbClr>
          </a:solidFill>
          <a:ln w="9525">
            <a:solidFill>
              <a:srgbClr val="16BDEB">
                <a:alpha val="66667"/>
              </a:srgbClr>
            </a:solidFill>
            <a:prstDash val="solid"/>
          </a:ln>
        </p:spPr>
      </p:sp>
      <p:sp>
        <p:nvSpPr>
          <p:cNvPr id="45" name="flow-reason-num"/>
          <p:cNvSpPr>
            <a:spLocks noGrp="1"/>
          </p:cNvSpPr>
          <p:nvPr/>
        </p:nvSpPr>
        <p:spPr>
          <a:xfrm>
            <a:off x="3486150" y="2676525"/>
            <a:ext cx="3238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6BD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6BD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050" b="1">
              <a:solidFill>
                <a:srgbClr val="16BD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flow-reason-title"/>
          <p:cNvSpPr>
            <a:spLocks noGrp="1"/>
          </p:cNvSpPr>
          <p:nvPr/>
        </p:nvSpPr>
        <p:spPr>
          <a:xfrm>
            <a:off x="3905250" y="2609850"/>
            <a:ext cx="17335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节点推理</a:t>
            </a:r>
            <a:endParaRPr sz="1350" b="1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flow-reason-desc"/>
          <p:cNvSpPr>
            <a:spLocks noGrp="1"/>
          </p:cNvSpPr>
          <p:nvPr/>
        </p:nvSpPr>
        <p:spPr>
          <a:xfrm>
            <a:off x="3505200" y="3028950"/>
            <a:ext cx="2114550" cy="419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 KO / PR / QR / PIR 等节点识别质量、进度、成本风险并保留证据链。</a:t>
            </a:r>
            <a:endParaRPr sz="865" b="0">
              <a:solidFill>
                <a:srgbClr val="5067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flow-reason-chip-0-shadow"/>
          <p:cNvSpPr>
            <a:spLocks noGrp="1"/>
          </p:cNvSpPr>
          <p:nvPr/>
        </p:nvSpPr>
        <p:spPr>
          <a:xfrm>
            <a:off x="3533775" y="3590925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0B6091">
              <a:alpha val="549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flow-reason-chip-0"/>
          <p:cNvSpPr>
            <a:spLocks noGrp="1"/>
          </p:cNvSpPr>
          <p:nvPr/>
        </p:nvSpPr>
        <p:spPr>
          <a:xfrm>
            <a:off x="3505200" y="3543300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F7FDFF">
              <a:alpha val="66667"/>
            </a:srgbClr>
          </a:solidFill>
          <a:ln w="11430">
            <a:solidFill>
              <a:srgbClr val="BFEFFF">
                <a:alpha val="53333"/>
              </a:srgbClr>
            </a:solidFill>
            <a:prstDash val="solid"/>
          </a:ln>
        </p:spPr>
      </p:sp>
      <p:sp>
        <p:nvSpPr>
          <p:cNvPr id="50" name="flow-reason-chip-0-highlight"/>
          <p:cNvSpPr>
            <a:spLocks noGrp="1"/>
          </p:cNvSpPr>
          <p:nvPr/>
        </p:nvSpPr>
        <p:spPr>
          <a:xfrm>
            <a:off x="3657600" y="3657600"/>
            <a:ext cx="647700" cy="71247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flow-reason-chip-0-label"/>
          <p:cNvSpPr>
            <a:spLocks noGrp="1"/>
          </p:cNvSpPr>
          <p:nvPr/>
        </p:nvSpPr>
        <p:spPr>
          <a:xfrm>
            <a:off x="3638550" y="3600450"/>
            <a:ext cx="6858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6BD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1">
                <a:solidFill>
                  <a:srgbClr val="16BD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风险分级</a:t>
            </a:r>
            <a:endParaRPr sz="705" b="1">
              <a:solidFill>
                <a:srgbClr val="16BD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flow-reason-chip-1-shadow"/>
          <p:cNvSpPr>
            <a:spLocks noGrp="1"/>
          </p:cNvSpPr>
          <p:nvPr/>
        </p:nvSpPr>
        <p:spPr>
          <a:xfrm>
            <a:off x="4533900" y="3590925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0B6091">
              <a:alpha val="549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flow-reason-chip-1"/>
          <p:cNvSpPr>
            <a:spLocks noGrp="1"/>
          </p:cNvSpPr>
          <p:nvPr/>
        </p:nvSpPr>
        <p:spPr>
          <a:xfrm>
            <a:off x="4505325" y="3543300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F7FDFF">
              <a:alpha val="66667"/>
            </a:srgbClr>
          </a:solidFill>
          <a:ln w="11430">
            <a:solidFill>
              <a:srgbClr val="BFEFFF">
                <a:alpha val="53333"/>
              </a:srgbClr>
            </a:solidFill>
            <a:prstDash val="solid"/>
          </a:ln>
        </p:spPr>
      </p:sp>
      <p:sp>
        <p:nvSpPr>
          <p:cNvPr id="54" name="flow-reason-chip-1-highlight"/>
          <p:cNvSpPr>
            <a:spLocks noGrp="1"/>
          </p:cNvSpPr>
          <p:nvPr/>
        </p:nvSpPr>
        <p:spPr>
          <a:xfrm>
            <a:off x="4657725" y="3657600"/>
            <a:ext cx="647700" cy="71247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flow-reason-chip-1-label"/>
          <p:cNvSpPr>
            <a:spLocks noGrp="1"/>
          </p:cNvSpPr>
          <p:nvPr/>
        </p:nvSpPr>
        <p:spPr>
          <a:xfrm>
            <a:off x="4638675" y="3600450"/>
            <a:ext cx="6858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6BD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1">
                <a:solidFill>
                  <a:srgbClr val="16BD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思考依据可见</a:t>
            </a:r>
            <a:endParaRPr sz="705" b="1">
              <a:solidFill>
                <a:srgbClr val="16BD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flow-task-shadow"/>
          <p:cNvSpPr>
            <a:spLocks noGrp="1"/>
          </p:cNvSpPr>
          <p:nvPr/>
        </p:nvSpPr>
        <p:spPr>
          <a:xfrm>
            <a:off x="6124575" y="2552700"/>
            <a:ext cx="2457450" cy="1562100"/>
          </a:xfrm>
          <a:prstGeom prst="roundRect">
            <a:avLst>
              <a:gd name="adj" fmla="val 4878"/>
            </a:avLst>
          </a:prstGeom>
          <a:solidFill>
            <a:srgbClr val="0B6091">
              <a:alpha val="10196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flow-task"/>
          <p:cNvSpPr>
            <a:spLocks noGrp="1"/>
          </p:cNvSpPr>
          <p:nvPr/>
        </p:nvSpPr>
        <p:spPr>
          <a:xfrm>
            <a:off x="6076950" y="2476500"/>
            <a:ext cx="2457450" cy="1562100"/>
          </a:xfrm>
          <a:prstGeom prst="roundRect">
            <a:avLst>
              <a:gd name="adj" fmla="val 4878"/>
            </a:avLst>
          </a:prstGeom>
          <a:solidFill>
            <a:srgbClr val="FFFFFF">
              <a:alpha val="53333"/>
            </a:srgbClr>
          </a:solidFill>
          <a:ln w="11430">
            <a:solidFill>
              <a:srgbClr val="FFFFFF">
                <a:alpha val="82353"/>
              </a:srgbClr>
            </a:solidFill>
            <a:prstDash val="solid"/>
          </a:ln>
        </p:spPr>
      </p:sp>
      <p:sp>
        <p:nvSpPr>
          <p:cNvPr id="58" name="flow-task-highlight"/>
          <p:cNvSpPr>
            <a:spLocks noGrp="1"/>
          </p:cNvSpPr>
          <p:nvPr/>
        </p:nvSpPr>
        <p:spPr>
          <a:xfrm>
            <a:off x="6229350" y="2590800"/>
            <a:ext cx="2152650" cy="228600"/>
          </a:xfrm>
          <a:prstGeom prst="roundRect">
            <a:avLst>
              <a:gd name="adj" fmla="val 33333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flow-task-icon-bg"/>
          <p:cNvSpPr>
            <a:spLocks noGrp="1"/>
          </p:cNvSpPr>
          <p:nvPr/>
        </p:nvSpPr>
        <p:spPr>
          <a:xfrm>
            <a:off x="6229350" y="2628900"/>
            <a:ext cx="323850" cy="323850"/>
          </a:xfrm>
          <a:prstGeom prst="ellipse">
            <a:avLst/>
          </a:prstGeom>
          <a:solidFill>
            <a:srgbClr val="19C7AE">
              <a:alpha val="18824"/>
            </a:srgbClr>
          </a:solidFill>
          <a:ln w="9525">
            <a:solidFill>
              <a:srgbClr val="19C7AE">
                <a:alpha val="66667"/>
              </a:srgbClr>
            </a:solidFill>
            <a:prstDash val="solid"/>
          </a:ln>
        </p:spPr>
      </p:sp>
      <p:sp>
        <p:nvSpPr>
          <p:cNvPr id="60" name="flow-task-num"/>
          <p:cNvSpPr>
            <a:spLocks noGrp="1"/>
          </p:cNvSpPr>
          <p:nvPr/>
        </p:nvSpPr>
        <p:spPr>
          <a:xfrm>
            <a:off x="6229350" y="2676525"/>
            <a:ext cx="3238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9C7A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9C7A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050" b="1">
              <a:solidFill>
                <a:srgbClr val="19C7A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1" name="flow-task-title"/>
          <p:cNvSpPr>
            <a:spLocks noGrp="1"/>
          </p:cNvSpPr>
          <p:nvPr/>
        </p:nvSpPr>
        <p:spPr>
          <a:xfrm>
            <a:off x="6648450" y="2609850"/>
            <a:ext cx="17335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任务自治</a:t>
            </a:r>
            <a:endParaRPr sz="1350" b="1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flow-task-desc"/>
          <p:cNvSpPr>
            <a:spLocks noGrp="1"/>
          </p:cNvSpPr>
          <p:nvPr/>
        </p:nvSpPr>
        <p:spPr>
          <a:xfrm>
            <a:off x="6248400" y="3028950"/>
            <a:ext cx="2114550" cy="419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生成背景、目标、责任人、截止时间和验收口径，模拟一键分发。</a:t>
            </a:r>
            <a:endParaRPr sz="865" b="0">
              <a:solidFill>
                <a:srgbClr val="5067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" name="flow-task-chip-0-shadow"/>
          <p:cNvSpPr>
            <a:spLocks noGrp="1"/>
          </p:cNvSpPr>
          <p:nvPr/>
        </p:nvSpPr>
        <p:spPr>
          <a:xfrm>
            <a:off x="6276975" y="3590925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0B6091">
              <a:alpha val="549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flow-task-chip-0"/>
          <p:cNvSpPr>
            <a:spLocks noGrp="1"/>
          </p:cNvSpPr>
          <p:nvPr/>
        </p:nvSpPr>
        <p:spPr>
          <a:xfrm>
            <a:off x="6248400" y="3543300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F7FDFF">
              <a:alpha val="66667"/>
            </a:srgbClr>
          </a:solidFill>
          <a:ln w="11430">
            <a:solidFill>
              <a:srgbClr val="BFEFFF">
                <a:alpha val="53333"/>
              </a:srgbClr>
            </a:solidFill>
            <a:prstDash val="solid"/>
          </a:ln>
        </p:spPr>
      </p:sp>
      <p:sp>
        <p:nvSpPr>
          <p:cNvPr id="65" name="flow-task-chip-0-highlight"/>
          <p:cNvSpPr>
            <a:spLocks noGrp="1"/>
          </p:cNvSpPr>
          <p:nvPr/>
        </p:nvSpPr>
        <p:spPr>
          <a:xfrm>
            <a:off x="6400800" y="3657600"/>
            <a:ext cx="647700" cy="71247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flow-task-chip-0-label"/>
          <p:cNvSpPr>
            <a:spLocks noGrp="1"/>
          </p:cNvSpPr>
          <p:nvPr/>
        </p:nvSpPr>
        <p:spPr>
          <a:xfrm>
            <a:off x="6381750" y="3600450"/>
            <a:ext cx="6858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9C7A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1">
                <a:solidFill>
                  <a:srgbClr val="19C7A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交付件质检</a:t>
            </a:r>
            <a:endParaRPr sz="705" b="1">
              <a:solidFill>
                <a:srgbClr val="19C7A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" name="flow-task-chip-1-shadow"/>
          <p:cNvSpPr>
            <a:spLocks noGrp="1"/>
          </p:cNvSpPr>
          <p:nvPr/>
        </p:nvSpPr>
        <p:spPr>
          <a:xfrm>
            <a:off x="7277100" y="3590925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0B6091">
              <a:alpha val="549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flow-task-chip-1"/>
          <p:cNvSpPr>
            <a:spLocks noGrp="1"/>
          </p:cNvSpPr>
          <p:nvPr/>
        </p:nvSpPr>
        <p:spPr>
          <a:xfrm>
            <a:off x="7248525" y="3543300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F7FDFF">
              <a:alpha val="66667"/>
            </a:srgbClr>
          </a:solidFill>
          <a:ln w="11430">
            <a:solidFill>
              <a:srgbClr val="BFEFFF">
                <a:alpha val="53333"/>
              </a:srgbClr>
            </a:solidFill>
            <a:prstDash val="solid"/>
          </a:ln>
        </p:spPr>
      </p:sp>
      <p:sp>
        <p:nvSpPr>
          <p:cNvPr id="69" name="flow-task-chip-1-highlight"/>
          <p:cNvSpPr>
            <a:spLocks noGrp="1"/>
          </p:cNvSpPr>
          <p:nvPr/>
        </p:nvSpPr>
        <p:spPr>
          <a:xfrm>
            <a:off x="7400925" y="3657600"/>
            <a:ext cx="647700" cy="71247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flow-task-chip-1-label"/>
          <p:cNvSpPr>
            <a:spLocks noGrp="1"/>
          </p:cNvSpPr>
          <p:nvPr/>
        </p:nvSpPr>
        <p:spPr>
          <a:xfrm>
            <a:off x="7381875" y="3600450"/>
            <a:ext cx="6858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9C7A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1">
                <a:solidFill>
                  <a:srgbClr val="19C7A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催办预警</a:t>
            </a:r>
            <a:endParaRPr sz="705" b="1">
              <a:solidFill>
                <a:srgbClr val="19C7A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1" name="flow-report-shadow"/>
          <p:cNvSpPr>
            <a:spLocks noGrp="1"/>
          </p:cNvSpPr>
          <p:nvPr/>
        </p:nvSpPr>
        <p:spPr>
          <a:xfrm>
            <a:off x="8867775" y="2552700"/>
            <a:ext cx="2457450" cy="1562100"/>
          </a:xfrm>
          <a:prstGeom prst="roundRect">
            <a:avLst>
              <a:gd name="adj" fmla="val 4878"/>
            </a:avLst>
          </a:prstGeom>
          <a:solidFill>
            <a:srgbClr val="0B6091">
              <a:alpha val="10196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flow-report"/>
          <p:cNvSpPr>
            <a:spLocks noGrp="1"/>
          </p:cNvSpPr>
          <p:nvPr/>
        </p:nvSpPr>
        <p:spPr>
          <a:xfrm>
            <a:off x="8820150" y="2476500"/>
            <a:ext cx="2457450" cy="1562100"/>
          </a:xfrm>
          <a:prstGeom prst="roundRect">
            <a:avLst>
              <a:gd name="adj" fmla="val 4878"/>
            </a:avLst>
          </a:prstGeom>
          <a:solidFill>
            <a:srgbClr val="FFFFFF">
              <a:alpha val="53333"/>
            </a:srgbClr>
          </a:solidFill>
          <a:ln w="11430">
            <a:solidFill>
              <a:srgbClr val="FFFFFF">
                <a:alpha val="82353"/>
              </a:srgbClr>
            </a:solidFill>
            <a:prstDash val="solid"/>
          </a:ln>
        </p:spPr>
      </p:sp>
      <p:sp>
        <p:nvSpPr>
          <p:cNvPr id="73" name="flow-report-highlight"/>
          <p:cNvSpPr>
            <a:spLocks noGrp="1"/>
          </p:cNvSpPr>
          <p:nvPr/>
        </p:nvSpPr>
        <p:spPr>
          <a:xfrm>
            <a:off x="8972550" y="2590800"/>
            <a:ext cx="2152650" cy="228600"/>
          </a:xfrm>
          <a:prstGeom prst="roundRect">
            <a:avLst>
              <a:gd name="adj" fmla="val 33333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flow-report-icon-bg"/>
          <p:cNvSpPr>
            <a:spLocks noGrp="1"/>
          </p:cNvSpPr>
          <p:nvPr/>
        </p:nvSpPr>
        <p:spPr>
          <a:xfrm>
            <a:off x="8972550" y="2628900"/>
            <a:ext cx="323850" cy="323850"/>
          </a:xfrm>
          <a:prstGeom prst="ellipse">
            <a:avLst/>
          </a:prstGeom>
          <a:solidFill>
            <a:srgbClr val="19A86B">
              <a:alpha val="18824"/>
            </a:srgbClr>
          </a:solidFill>
          <a:ln w="9525">
            <a:solidFill>
              <a:srgbClr val="19A86B">
                <a:alpha val="66667"/>
              </a:srgbClr>
            </a:solidFill>
            <a:prstDash val="solid"/>
          </a:ln>
        </p:spPr>
      </p:sp>
      <p:sp>
        <p:nvSpPr>
          <p:cNvPr id="75" name="flow-report-num"/>
          <p:cNvSpPr>
            <a:spLocks noGrp="1"/>
          </p:cNvSpPr>
          <p:nvPr/>
        </p:nvSpPr>
        <p:spPr>
          <a:xfrm>
            <a:off x="8972550" y="2676525"/>
            <a:ext cx="3238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9A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19A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050" b="1">
              <a:solidFill>
                <a:srgbClr val="19A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6" name="flow-report-title"/>
          <p:cNvSpPr>
            <a:spLocks noGrp="1"/>
          </p:cNvSpPr>
          <p:nvPr/>
        </p:nvSpPr>
        <p:spPr>
          <a:xfrm>
            <a:off x="9391650" y="2609850"/>
            <a:ext cx="17335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报告输出</a:t>
            </a:r>
            <a:endParaRPr sz="1350" b="1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7" name="flow-report-desc"/>
          <p:cNvSpPr>
            <a:spLocks noGrp="1"/>
          </p:cNvSpPr>
          <p:nvPr/>
        </p:nvSpPr>
        <p:spPr>
          <a:xfrm>
            <a:off x="8991600" y="3028950"/>
            <a:ext cx="2114550" cy="419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自动沉淀周报、月报、上升预警摘要和管理建议。</a:t>
            </a:r>
            <a:endParaRPr sz="865" b="0">
              <a:solidFill>
                <a:srgbClr val="5067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8" name="flow-report-chip-0-shadow"/>
          <p:cNvSpPr>
            <a:spLocks noGrp="1"/>
          </p:cNvSpPr>
          <p:nvPr/>
        </p:nvSpPr>
        <p:spPr>
          <a:xfrm>
            <a:off x="9020175" y="3590925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0B6091">
              <a:alpha val="549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flow-report-chip-0"/>
          <p:cNvSpPr>
            <a:spLocks noGrp="1"/>
          </p:cNvSpPr>
          <p:nvPr/>
        </p:nvSpPr>
        <p:spPr>
          <a:xfrm>
            <a:off x="8991600" y="3543300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F7FDFF">
              <a:alpha val="66667"/>
            </a:srgbClr>
          </a:solidFill>
          <a:ln w="11430">
            <a:solidFill>
              <a:srgbClr val="BFEFFF">
                <a:alpha val="53333"/>
              </a:srgbClr>
            </a:solidFill>
            <a:prstDash val="solid"/>
          </a:ln>
        </p:spPr>
      </p:sp>
      <p:sp>
        <p:nvSpPr>
          <p:cNvPr id="80" name="flow-report-chip-0-highlight"/>
          <p:cNvSpPr>
            <a:spLocks noGrp="1"/>
          </p:cNvSpPr>
          <p:nvPr/>
        </p:nvSpPr>
        <p:spPr>
          <a:xfrm>
            <a:off x="9144000" y="3657600"/>
            <a:ext cx="647700" cy="71247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flow-report-chip-0-label"/>
          <p:cNvSpPr>
            <a:spLocks noGrp="1"/>
          </p:cNvSpPr>
          <p:nvPr/>
        </p:nvSpPr>
        <p:spPr>
          <a:xfrm>
            <a:off x="9124950" y="3600450"/>
            <a:ext cx="6858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9A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1">
                <a:solidFill>
                  <a:srgbClr val="19A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周会摘要</a:t>
            </a:r>
            <a:endParaRPr sz="705" b="1">
              <a:solidFill>
                <a:srgbClr val="19A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2" name="flow-report-chip-1-shadow"/>
          <p:cNvSpPr>
            <a:spLocks noGrp="1"/>
          </p:cNvSpPr>
          <p:nvPr/>
        </p:nvSpPr>
        <p:spPr>
          <a:xfrm>
            <a:off x="10020300" y="3590925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0B6091">
              <a:alpha val="549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flow-report-chip-1"/>
          <p:cNvSpPr>
            <a:spLocks noGrp="1"/>
          </p:cNvSpPr>
          <p:nvPr/>
        </p:nvSpPr>
        <p:spPr>
          <a:xfrm>
            <a:off x="9991725" y="3543300"/>
            <a:ext cx="952500" cy="323850"/>
          </a:xfrm>
          <a:prstGeom prst="roundRect">
            <a:avLst>
              <a:gd name="adj" fmla="val 23529"/>
            </a:avLst>
          </a:prstGeom>
          <a:solidFill>
            <a:srgbClr val="F7FDFF">
              <a:alpha val="66667"/>
            </a:srgbClr>
          </a:solidFill>
          <a:ln w="11430">
            <a:solidFill>
              <a:srgbClr val="BFEFFF">
                <a:alpha val="53333"/>
              </a:srgbClr>
            </a:solidFill>
            <a:prstDash val="solid"/>
          </a:ln>
        </p:spPr>
      </p:sp>
      <p:sp>
        <p:nvSpPr>
          <p:cNvPr id="84" name="flow-report-chip-1-highlight"/>
          <p:cNvSpPr>
            <a:spLocks noGrp="1"/>
          </p:cNvSpPr>
          <p:nvPr/>
        </p:nvSpPr>
        <p:spPr>
          <a:xfrm>
            <a:off x="10144125" y="3657600"/>
            <a:ext cx="647700" cy="71247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flow-report-chip-1-label"/>
          <p:cNvSpPr>
            <a:spLocks noGrp="1"/>
          </p:cNvSpPr>
          <p:nvPr/>
        </p:nvSpPr>
        <p:spPr>
          <a:xfrm>
            <a:off x="10125075" y="3600450"/>
            <a:ext cx="68580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9A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05" b="1">
                <a:solidFill>
                  <a:srgbClr val="19A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经营汇报</a:t>
            </a:r>
            <a:endParaRPr sz="705" b="1">
              <a:solidFill>
                <a:srgbClr val="19A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6" name="connector-input-reason"/>
          <p:cNvSpPr>
            <a:spLocks noGrp="1"/>
          </p:cNvSpPr>
          <p:nvPr/>
        </p:nvSpPr>
        <p:spPr>
          <a:xfrm>
            <a:off x="3028950" y="3257550"/>
            <a:ext cx="304800" cy="0"/>
          </a:xfrm>
          <a:prstGeom prst="line">
            <a:avLst/>
          </a:prstGeom>
          <a:solidFill>
            <a:srgbClr val="FFFFFF"/>
          </a:solidFill>
          <a:ln w="28575">
            <a:solidFill>
              <a:srgbClr val="40CFFF">
                <a:alpha val="60392"/>
              </a:srgbClr>
            </a:solidFill>
            <a:prstDash val="solid"/>
          </a:ln>
        </p:spPr>
      </p:sp>
      <p:sp>
        <p:nvSpPr>
          <p:cNvPr id="87" name="connector-input-reason-dot"/>
          <p:cNvSpPr>
            <a:spLocks noGrp="1"/>
          </p:cNvSpPr>
          <p:nvPr/>
        </p:nvSpPr>
        <p:spPr>
          <a:xfrm>
            <a:off x="3238500" y="3209925"/>
            <a:ext cx="95250" cy="95250"/>
          </a:xfrm>
          <a:prstGeom prst="ellipse">
            <a:avLst/>
          </a:prstGeom>
          <a:solidFill>
            <a:srgbClr val="18C9F1"/>
          </a:solidFill>
          <a:ln w="9525">
            <a:solidFill>
              <a:srgbClr val="FFFFFF">
                <a:alpha val="69020"/>
              </a:srgbClr>
            </a:solidFill>
            <a:prstDash val="solid"/>
          </a:ln>
        </p:spPr>
      </p:sp>
      <p:sp>
        <p:nvSpPr>
          <p:cNvPr id="88" name="connector-reason-task"/>
          <p:cNvSpPr>
            <a:spLocks noGrp="1"/>
          </p:cNvSpPr>
          <p:nvPr/>
        </p:nvSpPr>
        <p:spPr>
          <a:xfrm>
            <a:off x="5772150" y="3257550"/>
            <a:ext cx="304800" cy="0"/>
          </a:xfrm>
          <a:prstGeom prst="line">
            <a:avLst/>
          </a:prstGeom>
          <a:solidFill>
            <a:srgbClr val="FFFFFF"/>
          </a:solidFill>
          <a:ln w="28575">
            <a:solidFill>
              <a:srgbClr val="40CFFF">
                <a:alpha val="60392"/>
              </a:srgbClr>
            </a:solidFill>
            <a:prstDash val="solid"/>
          </a:ln>
        </p:spPr>
      </p:sp>
      <p:sp>
        <p:nvSpPr>
          <p:cNvPr id="89" name="connector-reason-task-dot"/>
          <p:cNvSpPr>
            <a:spLocks noGrp="1"/>
          </p:cNvSpPr>
          <p:nvPr/>
        </p:nvSpPr>
        <p:spPr>
          <a:xfrm>
            <a:off x="5981700" y="3209925"/>
            <a:ext cx="95250" cy="95250"/>
          </a:xfrm>
          <a:prstGeom prst="ellipse">
            <a:avLst/>
          </a:prstGeom>
          <a:solidFill>
            <a:srgbClr val="18C9F1"/>
          </a:solidFill>
          <a:ln w="9525">
            <a:solidFill>
              <a:srgbClr val="FFFFFF">
                <a:alpha val="69020"/>
              </a:srgbClr>
            </a:solidFill>
            <a:prstDash val="solid"/>
          </a:ln>
        </p:spPr>
      </p:sp>
      <p:sp>
        <p:nvSpPr>
          <p:cNvPr id="90" name="connector-task-report"/>
          <p:cNvSpPr>
            <a:spLocks noGrp="1"/>
          </p:cNvSpPr>
          <p:nvPr/>
        </p:nvSpPr>
        <p:spPr>
          <a:xfrm>
            <a:off x="8515350" y="3257550"/>
            <a:ext cx="304800" cy="0"/>
          </a:xfrm>
          <a:prstGeom prst="line">
            <a:avLst/>
          </a:prstGeom>
          <a:solidFill>
            <a:srgbClr val="FFFFFF"/>
          </a:solidFill>
          <a:ln w="28575">
            <a:solidFill>
              <a:srgbClr val="40CFFF">
                <a:alpha val="60392"/>
              </a:srgbClr>
            </a:solidFill>
            <a:prstDash val="solid"/>
          </a:ln>
        </p:spPr>
      </p:sp>
      <p:sp>
        <p:nvSpPr>
          <p:cNvPr id="91" name="connector-task-report-dot"/>
          <p:cNvSpPr>
            <a:spLocks noGrp="1"/>
          </p:cNvSpPr>
          <p:nvPr/>
        </p:nvSpPr>
        <p:spPr>
          <a:xfrm>
            <a:off x="8724900" y="3209925"/>
            <a:ext cx="95250" cy="95250"/>
          </a:xfrm>
          <a:prstGeom prst="ellipse">
            <a:avLst/>
          </a:prstGeom>
          <a:solidFill>
            <a:srgbClr val="18C9F1"/>
          </a:solidFill>
          <a:ln w="9525">
            <a:solidFill>
              <a:srgbClr val="FFFFFF">
                <a:alpha val="69020"/>
              </a:srgbClr>
            </a:solidFill>
            <a:prstDash val="solid"/>
          </a:ln>
        </p:spPr>
      </p:sp>
      <p:sp>
        <p:nvSpPr>
          <p:cNvPr id="92" name="value-heading"/>
          <p:cNvSpPr>
            <a:spLocks noGrp="1"/>
          </p:cNvSpPr>
          <p:nvPr/>
        </p:nvSpPr>
        <p:spPr>
          <a:xfrm>
            <a:off x="590550" y="430530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业务价值</a:t>
            </a:r>
            <a:endParaRPr sz="1575" b="1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3" name="increment-note"/>
          <p:cNvSpPr>
            <a:spLocks noGrp="1"/>
          </p:cNvSpPr>
          <p:nvPr/>
        </p:nvSpPr>
        <p:spPr>
          <a:xfrm>
            <a:off x="1619250" y="4343400"/>
            <a:ext cx="48577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既有系统作为数据基础，本次新增是 AI 任务自治闭环和可演示原型。</a:t>
            </a:r>
            <a:endParaRPr sz="940" b="0">
              <a:solidFill>
                <a:srgbClr val="5067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4" name="value-risk-shadow"/>
          <p:cNvSpPr>
            <a:spLocks noGrp="1"/>
          </p:cNvSpPr>
          <p:nvPr/>
        </p:nvSpPr>
        <p:spPr>
          <a:xfrm>
            <a:off x="628650" y="4810125"/>
            <a:ext cx="2552700" cy="723900"/>
          </a:xfrm>
          <a:prstGeom prst="roundRect">
            <a:avLst>
              <a:gd name="adj" fmla="val 10526"/>
            </a:avLst>
          </a:prstGeom>
          <a:solidFill>
            <a:srgbClr val="0B6091">
              <a:alpha val="7059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value-risk"/>
          <p:cNvSpPr>
            <a:spLocks noGrp="1"/>
          </p:cNvSpPr>
          <p:nvPr/>
        </p:nvSpPr>
        <p:spPr>
          <a:xfrm>
            <a:off x="590550" y="4743450"/>
            <a:ext cx="255270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50980"/>
            </a:srgbClr>
          </a:solidFill>
          <a:ln w="11430">
            <a:solidFill>
              <a:srgbClr val="FFFFFF">
                <a:alpha val="81176"/>
              </a:srgbClr>
            </a:solidFill>
            <a:prstDash val="solid"/>
          </a:ln>
        </p:spPr>
      </p:sp>
      <p:sp>
        <p:nvSpPr>
          <p:cNvPr id="96" name="value-risk-highlight"/>
          <p:cNvSpPr>
            <a:spLocks noGrp="1"/>
          </p:cNvSpPr>
          <p:nvPr/>
        </p:nvSpPr>
        <p:spPr>
          <a:xfrm>
            <a:off x="742950" y="4857750"/>
            <a:ext cx="2247900" cy="159258"/>
          </a:xfrm>
          <a:prstGeom prst="roundRect">
            <a:avLst>
              <a:gd name="adj" fmla="val 47847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value-risk-bar"/>
          <p:cNvSpPr>
            <a:spLocks noGrp="1"/>
          </p:cNvSpPr>
          <p:nvPr/>
        </p:nvSpPr>
        <p:spPr>
          <a:xfrm>
            <a:off x="723900" y="4876800"/>
            <a:ext cx="95250" cy="457200"/>
          </a:xfrm>
          <a:prstGeom prst="roundRect">
            <a:avLst>
              <a:gd name="adj" fmla="val 50000"/>
            </a:avLst>
          </a:prstGeom>
          <a:solidFill>
            <a:srgbClr val="E35D5D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value-risk-title"/>
          <p:cNvSpPr>
            <a:spLocks noGrp="1"/>
          </p:cNvSpPr>
          <p:nvPr/>
        </p:nvSpPr>
        <p:spPr>
          <a:xfrm>
            <a:off x="933450" y="4867275"/>
            <a:ext cx="20764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风险发现提前</a:t>
            </a:r>
            <a:endParaRPr sz="1165" b="1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9" name="value-risk-desc"/>
          <p:cNvSpPr>
            <a:spLocks noGrp="1"/>
          </p:cNvSpPr>
          <p:nvPr/>
        </p:nvSpPr>
        <p:spPr>
          <a:xfrm>
            <a:off x="933450" y="5124450"/>
            <a:ext cx="20764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7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从周会后处理变为信号出现即识别</a:t>
            </a:r>
            <a:endParaRPr sz="775" b="0">
              <a:solidFill>
                <a:srgbClr val="5067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0" name="value-manual-shadow"/>
          <p:cNvSpPr>
            <a:spLocks noGrp="1"/>
          </p:cNvSpPr>
          <p:nvPr/>
        </p:nvSpPr>
        <p:spPr>
          <a:xfrm>
            <a:off x="3448050" y="4810125"/>
            <a:ext cx="2552700" cy="723900"/>
          </a:xfrm>
          <a:prstGeom prst="roundRect">
            <a:avLst>
              <a:gd name="adj" fmla="val 10526"/>
            </a:avLst>
          </a:prstGeom>
          <a:solidFill>
            <a:srgbClr val="0B6091">
              <a:alpha val="7059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value-manual"/>
          <p:cNvSpPr>
            <a:spLocks noGrp="1"/>
          </p:cNvSpPr>
          <p:nvPr/>
        </p:nvSpPr>
        <p:spPr>
          <a:xfrm>
            <a:off x="3409950" y="4743450"/>
            <a:ext cx="255270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50980"/>
            </a:srgbClr>
          </a:solidFill>
          <a:ln w="11430">
            <a:solidFill>
              <a:srgbClr val="FFFFFF">
                <a:alpha val="81176"/>
              </a:srgbClr>
            </a:solidFill>
            <a:prstDash val="solid"/>
          </a:ln>
        </p:spPr>
      </p:sp>
      <p:sp>
        <p:nvSpPr>
          <p:cNvPr id="102" name="value-manual-highlight"/>
          <p:cNvSpPr>
            <a:spLocks noGrp="1"/>
          </p:cNvSpPr>
          <p:nvPr/>
        </p:nvSpPr>
        <p:spPr>
          <a:xfrm>
            <a:off x="3562350" y="4857750"/>
            <a:ext cx="2247900" cy="159258"/>
          </a:xfrm>
          <a:prstGeom prst="roundRect">
            <a:avLst>
              <a:gd name="adj" fmla="val 47847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value-manual-bar"/>
          <p:cNvSpPr>
            <a:spLocks noGrp="1"/>
          </p:cNvSpPr>
          <p:nvPr/>
        </p:nvSpPr>
        <p:spPr>
          <a:xfrm>
            <a:off x="3543300" y="4876800"/>
            <a:ext cx="95250" cy="457200"/>
          </a:xfrm>
          <a:prstGeom prst="roundRect">
            <a:avLst>
              <a:gd name="adj" fmla="val 50000"/>
            </a:avLst>
          </a:prstGeom>
          <a:solidFill>
            <a:srgbClr val="16BDEB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value-manual-title"/>
          <p:cNvSpPr>
            <a:spLocks noGrp="1"/>
          </p:cNvSpPr>
          <p:nvPr/>
        </p:nvSpPr>
        <p:spPr>
          <a:xfrm>
            <a:off x="3752850" y="4867275"/>
            <a:ext cx="20764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人工收集减少</a:t>
            </a:r>
            <a:endParaRPr sz="1165" b="1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5" name="value-manual-desc"/>
          <p:cNvSpPr>
            <a:spLocks noGrp="1"/>
          </p:cNvSpPr>
          <p:nvPr/>
        </p:nvSpPr>
        <p:spPr>
          <a:xfrm>
            <a:off x="3752850" y="5124450"/>
            <a:ext cx="20764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7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跨系统数据自动归一和解释</a:t>
            </a:r>
            <a:endParaRPr sz="775" b="0">
              <a:solidFill>
                <a:srgbClr val="5067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6" name="value-closure-shadow"/>
          <p:cNvSpPr>
            <a:spLocks noGrp="1"/>
          </p:cNvSpPr>
          <p:nvPr/>
        </p:nvSpPr>
        <p:spPr>
          <a:xfrm>
            <a:off x="6267450" y="4810125"/>
            <a:ext cx="2552700" cy="723900"/>
          </a:xfrm>
          <a:prstGeom prst="roundRect">
            <a:avLst>
              <a:gd name="adj" fmla="val 10526"/>
            </a:avLst>
          </a:prstGeom>
          <a:solidFill>
            <a:srgbClr val="0B6091">
              <a:alpha val="7059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value-closure"/>
          <p:cNvSpPr>
            <a:spLocks noGrp="1"/>
          </p:cNvSpPr>
          <p:nvPr/>
        </p:nvSpPr>
        <p:spPr>
          <a:xfrm>
            <a:off x="6229350" y="4743450"/>
            <a:ext cx="255270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50980"/>
            </a:srgbClr>
          </a:solidFill>
          <a:ln w="11430">
            <a:solidFill>
              <a:srgbClr val="FFFFFF">
                <a:alpha val="81176"/>
              </a:srgbClr>
            </a:solidFill>
            <a:prstDash val="solid"/>
          </a:ln>
        </p:spPr>
      </p:sp>
      <p:sp>
        <p:nvSpPr>
          <p:cNvPr id="108" name="value-closure-highlight"/>
          <p:cNvSpPr>
            <a:spLocks noGrp="1"/>
          </p:cNvSpPr>
          <p:nvPr/>
        </p:nvSpPr>
        <p:spPr>
          <a:xfrm>
            <a:off x="6381750" y="4857750"/>
            <a:ext cx="2247900" cy="159258"/>
          </a:xfrm>
          <a:prstGeom prst="roundRect">
            <a:avLst>
              <a:gd name="adj" fmla="val 47847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value-closure-bar"/>
          <p:cNvSpPr>
            <a:spLocks noGrp="1"/>
          </p:cNvSpPr>
          <p:nvPr/>
        </p:nvSpPr>
        <p:spPr>
          <a:xfrm>
            <a:off x="6362700" y="4876800"/>
            <a:ext cx="95250" cy="457200"/>
          </a:xfrm>
          <a:prstGeom prst="roundRect">
            <a:avLst>
              <a:gd name="adj" fmla="val 50000"/>
            </a:avLst>
          </a:prstGeom>
          <a:solidFill>
            <a:srgbClr val="19C7AE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value-closure-title"/>
          <p:cNvSpPr>
            <a:spLocks noGrp="1"/>
          </p:cNvSpPr>
          <p:nvPr/>
        </p:nvSpPr>
        <p:spPr>
          <a:xfrm>
            <a:off x="6572250" y="4867275"/>
            <a:ext cx="20764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任务闭环更稳</a:t>
            </a:r>
            <a:endParaRPr sz="1165" b="1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1" name="value-closure-desc"/>
          <p:cNvSpPr>
            <a:spLocks noGrp="1"/>
          </p:cNvSpPr>
          <p:nvPr/>
        </p:nvSpPr>
        <p:spPr>
          <a:xfrm>
            <a:off x="6572250" y="5124450"/>
            <a:ext cx="20764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7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责任、期限、验收口径同步生成</a:t>
            </a:r>
            <a:endParaRPr sz="775" b="0">
              <a:solidFill>
                <a:srgbClr val="5067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2" name="value-report-shadow"/>
          <p:cNvSpPr>
            <a:spLocks noGrp="1"/>
          </p:cNvSpPr>
          <p:nvPr/>
        </p:nvSpPr>
        <p:spPr>
          <a:xfrm>
            <a:off x="9086850" y="4810125"/>
            <a:ext cx="2552700" cy="723900"/>
          </a:xfrm>
          <a:prstGeom prst="roundRect">
            <a:avLst>
              <a:gd name="adj" fmla="val 10526"/>
            </a:avLst>
          </a:prstGeom>
          <a:solidFill>
            <a:srgbClr val="0B6091">
              <a:alpha val="7059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value-report"/>
          <p:cNvSpPr>
            <a:spLocks noGrp="1"/>
          </p:cNvSpPr>
          <p:nvPr/>
        </p:nvSpPr>
        <p:spPr>
          <a:xfrm>
            <a:off x="9048750" y="4743450"/>
            <a:ext cx="255270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50980"/>
            </a:srgbClr>
          </a:solidFill>
          <a:ln w="11430">
            <a:solidFill>
              <a:srgbClr val="FFFFFF">
                <a:alpha val="81176"/>
              </a:srgbClr>
            </a:solidFill>
            <a:prstDash val="solid"/>
          </a:ln>
        </p:spPr>
      </p:sp>
      <p:sp>
        <p:nvSpPr>
          <p:cNvPr id="114" name="value-report-highlight"/>
          <p:cNvSpPr>
            <a:spLocks noGrp="1"/>
          </p:cNvSpPr>
          <p:nvPr/>
        </p:nvSpPr>
        <p:spPr>
          <a:xfrm>
            <a:off x="9201150" y="4857750"/>
            <a:ext cx="2247900" cy="159258"/>
          </a:xfrm>
          <a:prstGeom prst="roundRect">
            <a:avLst>
              <a:gd name="adj" fmla="val 47847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value-report-bar"/>
          <p:cNvSpPr>
            <a:spLocks noGrp="1"/>
          </p:cNvSpPr>
          <p:nvPr/>
        </p:nvSpPr>
        <p:spPr>
          <a:xfrm>
            <a:off x="9182100" y="4876800"/>
            <a:ext cx="95250" cy="457200"/>
          </a:xfrm>
          <a:prstGeom prst="roundRect">
            <a:avLst>
              <a:gd name="adj" fmla="val 50000"/>
            </a:avLst>
          </a:prstGeom>
          <a:solidFill>
            <a:srgbClr val="19A86B"/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value-report-title"/>
          <p:cNvSpPr>
            <a:spLocks noGrp="1"/>
          </p:cNvSpPr>
          <p:nvPr/>
        </p:nvSpPr>
        <p:spPr>
          <a:xfrm>
            <a:off x="9391650" y="4867275"/>
            <a:ext cx="207645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65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汇报自动生成</a:t>
            </a:r>
            <a:endParaRPr sz="1165" b="1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7" name="value-report-desc"/>
          <p:cNvSpPr>
            <a:spLocks noGrp="1"/>
          </p:cNvSpPr>
          <p:nvPr/>
        </p:nvSpPr>
        <p:spPr>
          <a:xfrm>
            <a:off x="9391650" y="5124450"/>
            <a:ext cx="2076450" cy="209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7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75" b="0">
                <a:solidFill>
                  <a:srgbClr val="5067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周报、月报和上升预警可直接复用</a:t>
            </a:r>
            <a:endParaRPr sz="775" b="0">
              <a:solidFill>
                <a:srgbClr val="5067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8" name="footer-boundary-shadow"/>
          <p:cNvSpPr>
            <a:spLocks noGrp="1"/>
          </p:cNvSpPr>
          <p:nvPr/>
        </p:nvSpPr>
        <p:spPr>
          <a:xfrm>
            <a:off x="628650" y="5781675"/>
            <a:ext cx="11010900" cy="476250"/>
          </a:xfrm>
          <a:prstGeom prst="roundRect">
            <a:avLst>
              <a:gd name="adj" fmla="val 16000"/>
            </a:avLst>
          </a:prstGeom>
          <a:solidFill>
            <a:srgbClr val="0B6091">
              <a:alpha val="549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footer-boundary"/>
          <p:cNvSpPr>
            <a:spLocks noGrp="1"/>
          </p:cNvSpPr>
          <p:nvPr/>
        </p:nvSpPr>
        <p:spPr>
          <a:xfrm>
            <a:off x="590550" y="5715000"/>
            <a:ext cx="11010900" cy="476250"/>
          </a:xfrm>
          <a:prstGeom prst="roundRect">
            <a:avLst>
              <a:gd name="adj" fmla="val 16000"/>
            </a:avLst>
          </a:prstGeom>
          <a:solidFill>
            <a:srgbClr val="FFFFFF">
              <a:alpha val="47059"/>
            </a:srgbClr>
          </a:solidFill>
          <a:ln w="11430">
            <a:solidFill>
              <a:srgbClr val="FFFFFF">
                <a:alpha val="77647"/>
              </a:srgbClr>
            </a:solidFill>
            <a:prstDash val="solid"/>
          </a:ln>
        </p:spPr>
      </p:sp>
      <p:sp>
        <p:nvSpPr>
          <p:cNvPr id="120" name="footer-boundary-highlight"/>
          <p:cNvSpPr>
            <a:spLocks noGrp="1"/>
          </p:cNvSpPr>
          <p:nvPr/>
        </p:nvSpPr>
        <p:spPr>
          <a:xfrm>
            <a:off x="742950" y="5829300"/>
            <a:ext cx="10706100" cy="104775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footer-boundary-copy"/>
          <p:cNvSpPr>
            <a:spLocks noGrp="1"/>
          </p:cNvSpPr>
          <p:nvPr/>
        </p:nvSpPr>
        <p:spPr>
          <a:xfrm>
            <a:off x="838200" y="5838825"/>
            <a:ext cx="7239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40" b="1">
                <a:solidFill>
                  <a:srgbClr val="3657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1">
                <a:solidFill>
                  <a:srgbClr val="36576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演示边界：Demo 1.0 展示 AI 生成任务建议与模拟分发；正式生产写回作为下一步接口集成。</a:t>
            </a:r>
            <a:endParaRPr sz="940" b="1">
              <a:solidFill>
                <a:srgbClr val="36576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2" name="footer-loop-copy"/>
          <p:cNvSpPr>
            <a:spLocks noGrp="1"/>
          </p:cNvSpPr>
          <p:nvPr/>
        </p:nvSpPr>
        <p:spPr>
          <a:xfrm>
            <a:off x="6931025" y="5838825"/>
            <a:ext cx="440372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865" b="0">
                <a:solidFill>
                  <a:srgbClr val="007FB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007FB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方案闭环：数据输入 → AI 推理 → 任务自治 → 交付验收 → 催办预警 → 周报/月报</a:t>
            </a:r>
            <a:endParaRPr sz="865" b="0">
              <a:solidFill>
                <a:srgbClr val="007FB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</Words>
  <Application>WPS 表格</Application>
  <PresentationFormat>Converted Presentation</PresentationFormat>
  <Paragraphs>76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shswyuyouquan</cp:lastModifiedBy>
  <cp:revision>1</cp:revision>
  <dcterms:created xsi:type="dcterms:W3CDTF">2026-06-05T13:31:09Z</dcterms:created>
  <dcterms:modified xsi:type="dcterms:W3CDTF">2026-06-05T13:31:09Z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07AF973D2A61EF789DCF226A022DE918_42</vt:lpwstr>
  </property>
  <property fmtid="{D5CDD505-2E9C-101B-9397-08002B2CF9AE}" pid="3" name="KSOProductBuildVer">
    <vt:lpwstr>2052-12.1.25205.25205</vt:lpwstr>
  </property>
</Properties>
</file>
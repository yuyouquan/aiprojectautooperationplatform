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315358fc045df" /><Relationship Type="http://schemas.openxmlformats.org/officeDocument/2006/relationships/extended-properties" Target="/docProps/app.xml" Id="R79592b5d055e49a7" /><Relationship Type="http://schemas.openxmlformats.org/officeDocument/2006/relationships/officeDocument" Target="/ppt/presentation.xml" Id="Rb7f5196a972b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a08b3d2f84334"/>
  </p:sldMasterIdLst>
  <p:notesMasterIdLst>
    <p:notesMasterId xmlns:r="http://schemas.openxmlformats.org/officeDocument/2006/relationships" r:id="R6e1795b94ffb4771"/>
  </p:notesMasterIdLst>
  <p:sldIdLst>
    <p:sldId xmlns:r="http://schemas.openxmlformats.org/officeDocument/2006/relationships" id="256" r:id="Ra8e2da79576149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1fb4d0b9143a1" /><Relationship Type="http://schemas.openxmlformats.org/officeDocument/2006/relationships/slideMaster" Target="/ppt/slideMasters/slideMaster1.xml" Id="R584a08b3d2f84334" /><Relationship Type="http://schemas.openxmlformats.org/officeDocument/2006/relationships/notesMaster" Target="/ppt/notesMasters/notesMaster1.xml" Id="R6e1795b94ffb4771" /><Relationship Type="http://schemas.openxmlformats.org/officeDocument/2006/relationships/presProps" Target="/ppt/presProps.xml" Id="Rcd41255f04e94996" /><Relationship Type="http://schemas.openxmlformats.org/officeDocument/2006/relationships/viewProps" Target="/ppt/viewProps.xml" Id="R157f196474eb47fb" /><Relationship Type="http://schemas.openxmlformats.org/officeDocument/2006/relationships/tableStyles" Target="/ppt/tableStyles.xml" Id="R7f65c36766e84d44" /><Relationship Type="http://schemas.openxmlformats.org/officeDocument/2006/relationships/slide" Target="/ppt/slides/slide1.xml" Id="Ra8e2da79576149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26af2cda20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8dd78e81cd43f4" /><Relationship Type="http://schemas.openxmlformats.org/officeDocument/2006/relationships/notesMaster" Target="/ppt/notesMasters/notesMaster1.xml" Id="R3fe40c63a1df4b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00b20c1d04c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395c15f2ee480c" /><Relationship Type="http://schemas.openxmlformats.org/officeDocument/2006/relationships/slideLayout" Target="/ppt/slideLayouts/slideLayout1.xml" Id="Rc18e89aacf4c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8e89aacf4c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f793e2068482b" /><Relationship Type="http://schemas.openxmlformats.org/officeDocument/2006/relationships/image" Target="/ppt/media/image.png" Id="Rb7226c89731240dc" /><Relationship Type="http://schemas.openxmlformats.org/officeDocument/2006/relationships/image" Target="/ppt/media/image2.png" Id="Rd2d22635de3047da" /><Relationship Type="http://schemas.openxmlformats.org/officeDocument/2006/relationships/image" Target="/ppt/media/image3.png" Id="R3183273dfcc54d56" /><Relationship Type="http://schemas.openxmlformats.org/officeDocument/2006/relationships/image" Target="/ppt/media/image4.png" Id="R3335f193b42548c7" /><Relationship Type="http://schemas.openxmlformats.org/officeDocument/2006/relationships/image" Target="/ppt/media/image5.png" Id="R2ec81430376b4c0a" /><Relationship Type="http://schemas.openxmlformats.org/officeDocument/2006/relationships/image" Target="/ppt/media/image6.png" Id="Rca4d96128a104219" /><Relationship Type="http://schemas.openxmlformats.org/officeDocument/2006/relationships/notesSlide" Target="/ppt/notesSlides/notesSlide1.xml" Id="R9cb1c96eb6c749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26c89731240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oft-white-wash">
            <a:extLst xmlns:a="http://schemas.openxmlformats.org/drawingml/2006/main">
              <a:ext uri="{FF2B5EF4-FFF2-40B4-BE49-F238E27FC236}">
                <a16:creationId xmlns:a16="http://schemas.microsoft.com/office/drawing/2014/main" id="{2B78D6A3-DDDA-40DD-A107-F62E5575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725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kicker-pill">
            <a:extLst xmlns:a="http://schemas.openxmlformats.org/drawingml/2006/main">
              <a:ext uri="{FF2B5EF4-FFF2-40B4-BE49-F238E27FC236}">
                <a16:creationId xmlns:a16="http://schemas.microsoft.com/office/drawing/2014/main" id="{41CD8C81-026D-4969-A5C4-2782896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A5E9">
              <a:alpha val="11373"/>
            </a:srgbClr>
          </a:solidFill>
          <a:ln xmlns:a="http://schemas.openxmlformats.org/drawingml/2006/main" w="9525">
            <a:solidFill>
              <a:srgbClr val="FFFFFF">
                <a:alpha val="57255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471CBF-0A24-41E0-ADA3-DC33468B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78E9FB-8FB1-483B-B73C-42B1A87C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TEAM PROFILE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A87F6E-84D5-4CF9-AABD-E645481C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团队介绍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5508CB26-B85C-4276-8F1F-2CF13A5E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76300"/>
            <a:ext cx="802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AI项目自治运营平台参赛团队 | 产研数据同源 · 跨系统数据引用 · AI拟合分析</a:t>
            </a:r>
          </a:p>
        </p:txBody>
      </p:sp>
      <p:sp>
        <p:nvSpPr>
          <p:cNvPr id="8" name="leader-panel-shadow">
            <a:extLst xmlns:a="http://schemas.openxmlformats.org/drawingml/2006/main">
              <a:ext uri="{FF2B5EF4-FFF2-40B4-BE49-F238E27FC236}">
                <a16:creationId xmlns:a16="http://schemas.microsoft.com/office/drawing/2014/main" id="{FDE53C50-77D0-4FD9-9E36-0B77196E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52575"/>
            <a:ext cx="3524250" cy="4819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F172A">
              <a:alpha val="14118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eader-panel">
            <a:extLst xmlns:a="http://schemas.openxmlformats.org/drawingml/2006/main">
              <a:ext uri="{FF2B5EF4-FFF2-40B4-BE49-F238E27FC236}">
                <a16:creationId xmlns:a16="http://schemas.microsoft.com/office/drawing/2014/main" id="{6C6F85AE-EB2A-49C0-9349-87FBE53A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3524250" cy="4819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>
              <a:alpha val="41176"/>
            </a:srgbClr>
          </a:solidFill>
          <a:ln xmlns:a="http://schemas.openxmlformats.org/drawingml/2006/main" w="11430">
            <a:solidFill>
              <a:srgbClr val="FFFFFF">
                <a:alpha val="84706"/>
              </a:srgbClr>
            </a:solidFill>
            <a:prstDash val="solid"/>
          </a:ln>
        </p:spPr>
      </p:sp>
      <p:sp>
        <p:nvSpPr>
          <p:cNvPr id="10" name="leader-panel-highlight">
            <a:extLst xmlns:a="http://schemas.openxmlformats.org/drawingml/2006/main">
              <a:ext uri="{FF2B5EF4-FFF2-40B4-BE49-F238E27FC236}">
                <a16:creationId xmlns:a16="http://schemas.microsoft.com/office/drawing/2014/main" id="{A4703728-2D03-4FA2-8857-D8C06973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32575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>
              <a:alpha val="3529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eader-photo-frame">
            <a:extLst xmlns:a="http://schemas.openxmlformats.org/drawingml/2006/main">
              <a:ext uri="{FF2B5EF4-FFF2-40B4-BE49-F238E27FC236}">
                <a16:creationId xmlns:a16="http://schemas.microsoft.com/office/drawing/2014/main" id="{62178ED7-3971-43B4-8BEC-F5314823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95450"/>
            <a:ext cx="2743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45882"/>
            </a:srgbClr>
          </a:solidFill>
          <a:ln xmlns:a="http://schemas.openxmlformats.org/drawingml/2006/main" w="11430">
            <a:solidFill>
              <a:srgbClr val="FFFFFF">
                <a:alpha val="83922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22635de3047da"/>
          <a:stretch xmlns:a="http://schemas.openxmlformats.org/drawingml/2006/main"/>
        </p:blipFill>
        <p:spPr>
          <a:xfrm xmlns:a="http://schemas.openxmlformats.org/drawingml/2006/main">
            <a:off x="781050" y="1743075"/>
            <a:ext cx="2647950" cy="2190750"/>
          </a:xfrm>
          <a:prstGeom xmlns:a="http://schemas.openxmlformats.org/drawingml/2006/main" prst="rect">
            <a:avLst/>
          </a:prstGeom>
        </p:spPr>
      </p:pic>
      <p:sp>
        <p:nvSpPr>
          <p:cNvPr id="13" name="leader-role-pill">
            <a:extLst xmlns:a="http://schemas.openxmlformats.org/drawingml/2006/main">
              <a:ext uri="{FF2B5EF4-FFF2-40B4-BE49-F238E27FC236}">
                <a16:creationId xmlns:a16="http://schemas.microsoft.com/office/drawing/2014/main" id="{F5AF0D07-14D8-41A5-870E-5DEAD1F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914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A5E9">
              <a:alpha val="16863"/>
            </a:srgbClr>
          </a:solidFill>
          <a:ln xmlns:a="http://schemas.openxmlformats.org/drawingml/2006/main" w="9525">
            <a:solidFill>
              <a:srgbClr val="0EA5E9">
                <a:alpha val="30196"/>
              </a:srgbClr>
            </a:solidFill>
            <a:prstDash val="solid"/>
          </a:ln>
        </p:spPr>
      </p:sp>
      <p:sp>
        <p:nvSpPr>
          <p:cNvPr id="14" name="leader-role">
            <a:extLst xmlns:a="http://schemas.openxmlformats.org/drawingml/2006/main">
              <a:ext uri="{FF2B5EF4-FFF2-40B4-BE49-F238E27FC236}">
                <a16:creationId xmlns:a16="http://schemas.microsoft.com/office/drawing/2014/main" id="{A945C5C6-FB13-4FA5-89C8-47F4C877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369A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369A1"/>
                </a:solidFill>
                <a:latin typeface="PingFang SC"/>
                <a:ea typeface="PingFang SC"/>
                <a:cs typeface="PingFang SC"/>
              </a:rPr>
              <a:t>团队负责人</a:t>
            </a:r>
          </a:p>
        </p:txBody>
      </p:sp>
      <p:sp>
        <p:nvSpPr>
          <p:cNvPr id="15" name="leader-name">
            <a:extLst xmlns:a="http://schemas.openxmlformats.org/drawingml/2006/main">
              <a:ext uri="{FF2B5EF4-FFF2-40B4-BE49-F238E27FC236}">
                <a16:creationId xmlns:a16="http://schemas.microsoft.com/office/drawing/2014/main" id="{D177CEC0-B6A4-40D8-9BF7-2D5CE162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涂良建</a:t>
            </a:r>
          </a:p>
        </p:txBody>
      </p:sp>
      <p:sp>
        <p:nvSpPr>
          <p:cNvPr id="16" name="leader-summary">
            <a:extLst xmlns:a="http://schemas.openxmlformats.org/drawingml/2006/main">
              <a:ext uri="{FF2B5EF4-FFF2-40B4-BE49-F238E27FC236}">
                <a16:creationId xmlns:a16="http://schemas.microsoft.com/office/drawing/2014/main" id="{AF43D1B8-A448-4619-ABD9-097B0534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10年传音项目管理经验</a:t>
            </a:r>
          </a:p>
        </p:txBody>
      </p:sp>
      <p:sp>
        <p:nvSpPr>
          <p:cNvPr id="17" name="leader-desc">
            <a:extLst xmlns:a="http://schemas.openxmlformats.org/drawingml/2006/main">
              <a:ext uri="{FF2B5EF4-FFF2-40B4-BE49-F238E27FC236}">
                <a16:creationId xmlns:a16="http://schemas.microsoft.com/office/drawing/2014/main" id="{52BF8F43-59B7-4927-9D42-D5E2F4B3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熟悉传音三级研发体系、产研系统设计逻辑；长期研究数据同源、跨系统数据引用与AI拟合数据分析框架。</a:t>
            </a:r>
          </a:p>
        </p:txBody>
      </p:sp>
      <p:sp>
        <p:nvSpPr>
          <p:cNvPr id="18" name="chip-现有数据分析清洗">
            <a:extLst xmlns:a="http://schemas.openxmlformats.org/drawingml/2006/main">
              <a:ext uri="{FF2B5EF4-FFF2-40B4-BE49-F238E27FC236}">
                <a16:creationId xmlns:a16="http://schemas.microsoft.com/office/drawing/2014/main" id="{A22C1F6D-7027-44F2-BF98-4F36EE3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581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47059"/>
            </a:srgbClr>
          </a:solidFill>
          <a:ln xmlns:a="http://schemas.openxmlformats.org/drawingml/2006/main" w="9525">
            <a:solidFill>
              <a:srgbClr val="FFFFFF">
                <a:alpha val="83137"/>
              </a:srgbClr>
            </a:solidFill>
            <a:prstDash val="solid"/>
          </a:ln>
        </p:spPr>
      </p:sp>
      <p:sp>
        <p:nvSpPr>
          <p:cNvPr id="19" name="chip-dot-现有数据分析清洗">
            <a:extLst xmlns:a="http://schemas.openxmlformats.org/drawingml/2006/main">
              <a:ext uri="{FF2B5EF4-FFF2-40B4-BE49-F238E27FC236}">
                <a16:creationId xmlns:a16="http://schemas.microsoft.com/office/drawing/2014/main" id="{0B1B9C50-4C57-4FB6-A58B-7369EF65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chip-label-现有数据分析清洗">
            <a:extLst xmlns:a="http://schemas.openxmlformats.org/drawingml/2006/main">
              <a:ext uri="{FF2B5EF4-FFF2-40B4-BE49-F238E27FC236}">
                <a16:creationId xmlns:a16="http://schemas.microsoft.com/office/drawing/2014/main" id="{2BED2ACC-12B7-4825-B380-DC8AF10F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现有数据分析清洗</a:t>
            </a:r>
          </a:p>
        </p:txBody>
      </p:sp>
      <p:sp>
        <p:nvSpPr>
          <p:cNvPr id="21" name="chip-不新增系统落地">
            <a:extLst xmlns:a="http://schemas.openxmlformats.org/drawingml/2006/main">
              <a:ext uri="{FF2B5EF4-FFF2-40B4-BE49-F238E27FC236}">
                <a16:creationId xmlns:a16="http://schemas.microsoft.com/office/drawing/2014/main" id="{1C6C4292-DA8C-4249-A1E1-F04DACB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483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47059"/>
            </a:srgbClr>
          </a:solidFill>
          <a:ln xmlns:a="http://schemas.openxmlformats.org/drawingml/2006/main" w="9525">
            <a:solidFill>
              <a:srgbClr val="FFFFFF">
                <a:alpha val="83137"/>
              </a:srgbClr>
            </a:solidFill>
            <a:prstDash val="solid"/>
          </a:ln>
        </p:spPr>
      </p:sp>
      <p:sp>
        <p:nvSpPr>
          <p:cNvPr id="22" name="chip-dot-不新增系统落地">
            <a:extLst xmlns:a="http://schemas.openxmlformats.org/drawingml/2006/main">
              <a:ext uri="{FF2B5EF4-FFF2-40B4-BE49-F238E27FC236}">
                <a16:creationId xmlns:a16="http://schemas.microsoft.com/office/drawing/2014/main" id="{50A0EAB9-CE20-4632-9B4E-25319AB2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5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8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chip-label-不新增系统落地">
            <a:extLst xmlns:a="http://schemas.openxmlformats.org/drawingml/2006/main">
              <a:ext uri="{FF2B5EF4-FFF2-40B4-BE49-F238E27FC236}">
                <a16:creationId xmlns:a16="http://schemas.microsoft.com/office/drawing/2014/main" id="{C8C01DF8-4CF2-4D3F-A6C0-7943BFF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8864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不新增系统落地</a:t>
            </a:r>
          </a:p>
        </p:txBody>
      </p:sp>
      <p:sp>
        <p:nvSpPr>
          <p:cNvPr id="24" name="members-panel-shadow">
            <a:extLst xmlns:a="http://schemas.openxmlformats.org/drawingml/2006/main">
              <a:ext uri="{FF2B5EF4-FFF2-40B4-BE49-F238E27FC236}">
                <a16:creationId xmlns:a16="http://schemas.microsoft.com/office/drawing/2014/main" id="{7E4DD62D-4093-4EC5-8127-8F56A2A6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52575"/>
            <a:ext cx="73914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4E63">
              <a:alpha val="15686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members-panel">
            <a:extLst xmlns:a="http://schemas.openxmlformats.org/drawingml/2006/main">
              <a:ext uri="{FF2B5EF4-FFF2-40B4-BE49-F238E27FC236}">
                <a16:creationId xmlns:a16="http://schemas.microsoft.com/office/drawing/2014/main" id="{E3A781DF-20D6-4B70-B713-BF261BDC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73914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>
              <a:alpha val="38039"/>
            </a:srgbClr>
          </a:solidFill>
          <a:ln xmlns:a="http://schemas.openxmlformats.org/drawingml/2006/main" w="11430">
            <a:solidFill>
              <a:srgbClr val="FFFFFF">
                <a:alpha val="78431"/>
              </a:srgbClr>
            </a:solidFill>
            <a:prstDash val="solid"/>
          </a:ln>
        </p:spPr>
      </p:sp>
      <p:sp>
        <p:nvSpPr>
          <p:cNvPr id="26" name="members-panel-highlight">
            <a:extLst xmlns:a="http://schemas.openxmlformats.org/drawingml/2006/main">
              <a:ext uri="{FF2B5EF4-FFF2-40B4-BE49-F238E27FC236}">
                <a16:creationId xmlns:a16="http://schemas.microsoft.com/office/drawing/2014/main" id="{4F2886BD-B86F-4311-9ED6-E60C8CE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43050"/>
            <a:ext cx="71247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>
              <a:alpha val="3529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members-title">
            <a:extLst xmlns:a="http://schemas.openxmlformats.org/drawingml/2006/main">
              <a:ext uri="{FF2B5EF4-FFF2-40B4-BE49-F238E27FC236}">
                <a16:creationId xmlns:a16="http://schemas.microsoft.com/office/drawing/2014/main" id="{6CE79B50-87B2-4E25-B92E-E3565A93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核心成员</a:t>
            </a:r>
          </a:p>
        </p:txBody>
      </p:sp>
      <p:sp>
        <p:nvSpPr>
          <p:cNvPr id="28" name="members-subtitle">
            <a:extLst xmlns:a="http://schemas.openxmlformats.org/drawingml/2006/main">
              <a:ext uri="{FF2B5EF4-FFF2-40B4-BE49-F238E27FC236}">
                <a16:creationId xmlns:a16="http://schemas.microsoft.com/office/drawing/2014/main" id="{8AE5C6ED-C7C9-49CB-A256-BE56E606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SPUG / TOnes / PMS开发、字节AI产品、质量运营、自动化Bug分析能力覆盖</a:t>
            </a:r>
          </a:p>
        </p:txBody>
      </p:sp>
      <p:sp>
        <p:nvSpPr>
          <p:cNvPr id="29" name="member-yu-card-shadow">
            <a:extLst xmlns:a="http://schemas.openxmlformats.org/drawingml/2006/main">
              <a:ext uri="{FF2B5EF4-FFF2-40B4-BE49-F238E27FC236}">
                <a16:creationId xmlns:a16="http://schemas.microsoft.com/office/drawing/2014/main" id="{92D5C620-F9E8-495B-94CD-348FC98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57400"/>
            <a:ext cx="1581150" cy="2095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4E63">
              <a:alpha val="1882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member-yu-card">
            <a:extLst xmlns:a="http://schemas.openxmlformats.org/drawingml/2006/main">
              <a:ext uri="{FF2B5EF4-FFF2-40B4-BE49-F238E27FC236}">
                <a16:creationId xmlns:a16="http://schemas.microsoft.com/office/drawing/2014/main" id="{9F0FDA88-B3AD-4649-B497-6A5D9187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1581150" cy="2095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11430">
            <a:solidFill>
              <a:srgbClr val="FFFFFF">
                <a:alpha val="78431"/>
              </a:srgbClr>
            </a:solidFill>
            <a:prstDash val="solid"/>
          </a:ln>
        </p:spPr>
      </p:sp>
      <p:sp>
        <p:nvSpPr>
          <p:cNvPr id="31" name="member-yu-card-highlight">
            <a:extLst xmlns:a="http://schemas.openxmlformats.org/drawingml/2006/main">
              <a:ext uri="{FF2B5EF4-FFF2-40B4-BE49-F238E27FC236}">
                <a16:creationId xmlns:a16="http://schemas.microsoft.com/office/drawing/2014/main" id="{E3DF4AA4-70FE-4A50-9AFA-04197B3B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13144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>
              <a:alpha val="3529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3273dfcc54d56"/>
          <a:stretch xmlns:a="http://schemas.openxmlformats.org/drawingml/2006/main"/>
        </p:blipFill>
        <p:spPr>
          <a:xfrm xmlns:a="http://schemas.openxmlformats.org/drawingml/2006/main">
            <a:off x="4705350" y="2171700"/>
            <a:ext cx="1352550" cy="1428750"/>
          </a:xfrm>
          <a:prstGeom xmlns:a="http://schemas.openxmlformats.org/drawingml/2006/main" prst="rect">
            <a:avLst/>
          </a:prstGeom>
        </p:spPr>
      </p:pic>
      <p:sp>
        <p:nvSpPr>
          <p:cNvPr id="33" name="member-yu-name">
            <a:extLst xmlns:a="http://schemas.openxmlformats.org/drawingml/2006/main">
              <a:ext uri="{FF2B5EF4-FFF2-40B4-BE49-F238E27FC236}">
                <a16:creationId xmlns:a16="http://schemas.microsoft.com/office/drawing/2014/main" id="{A048649F-3C28-47C3-A0A6-F2E914BF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于佑全</a:t>
            </a:r>
          </a:p>
        </p:txBody>
      </p:sp>
      <p:sp>
        <p:nvSpPr>
          <p:cNvPr id="34" name="member-lei-card-shadow">
            <a:extLst xmlns:a="http://schemas.openxmlformats.org/drawingml/2006/main">
              <a:ext uri="{FF2B5EF4-FFF2-40B4-BE49-F238E27FC236}">
                <a16:creationId xmlns:a16="http://schemas.microsoft.com/office/drawing/2014/main" id="{77DD22B5-10A9-42DC-A9E8-27B947AD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1581150" cy="2095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4E63">
              <a:alpha val="1882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member-lei-card">
            <a:extLst xmlns:a="http://schemas.openxmlformats.org/drawingml/2006/main">
              <a:ext uri="{FF2B5EF4-FFF2-40B4-BE49-F238E27FC236}">
                <a16:creationId xmlns:a16="http://schemas.microsoft.com/office/drawing/2014/main" id="{3375CBED-38E5-4B39-8FB7-BDEE630C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1581150" cy="2095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11430">
            <a:solidFill>
              <a:srgbClr val="FFFFFF">
                <a:alpha val="78431"/>
              </a:srgbClr>
            </a:solidFill>
            <a:prstDash val="solid"/>
          </a:ln>
        </p:spPr>
      </p:sp>
      <p:sp>
        <p:nvSpPr>
          <p:cNvPr id="36" name="member-lei-card-highlight">
            <a:extLst xmlns:a="http://schemas.openxmlformats.org/drawingml/2006/main">
              <a:ext uri="{FF2B5EF4-FFF2-40B4-BE49-F238E27FC236}">
                <a16:creationId xmlns:a16="http://schemas.microsoft.com/office/drawing/2014/main" id="{DC353D25-4E9F-4930-9AE2-C2627F20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13144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>
              <a:alpha val="3529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5f193b42548c7"/>
          <a:stretch xmlns:a="http://schemas.openxmlformats.org/drawingml/2006/main"/>
        </p:blipFill>
        <p:spPr>
          <a:xfrm xmlns:a="http://schemas.openxmlformats.org/drawingml/2006/main">
            <a:off x="6400800" y="2171700"/>
            <a:ext cx="1352550" cy="1428750"/>
          </a:xfrm>
          <a:prstGeom xmlns:a="http://schemas.openxmlformats.org/drawingml/2006/main" prst="rect">
            <a:avLst/>
          </a:prstGeom>
        </p:spPr>
      </p:pic>
      <p:sp>
        <p:nvSpPr>
          <p:cNvPr id="38" name="member-lei-name">
            <a:extLst xmlns:a="http://schemas.openxmlformats.org/drawingml/2006/main">
              <a:ext uri="{FF2B5EF4-FFF2-40B4-BE49-F238E27FC236}">
                <a16:creationId xmlns:a16="http://schemas.microsoft.com/office/drawing/2014/main" id="{56DC6C33-7A26-4969-9F6C-79F71CB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雷利超</a:t>
            </a:r>
          </a:p>
        </p:txBody>
      </p:sp>
      <p:sp>
        <p:nvSpPr>
          <p:cNvPr id="39" name="member-luo-card-shadow">
            <a:extLst xmlns:a="http://schemas.openxmlformats.org/drawingml/2006/main">
              <a:ext uri="{FF2B5EF4-FFF2-40B4-BE49-F238E27FC236}">
                <a16:creationId xmlns:a16="http://schemas.microsoft.com/office/drawing/2014/main" id="{F67C7F68-1412-4364-BCA9-8CA3B0E4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57400"/>
            <a:ext cx="1581150" cy="2095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4E63">
              <a:alpha val="1882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member-luo-card">
            <a:extLst xmlns:a="http://schemas.openxmlformats.org/drawingml/2006/main">
              <a:ext uri="{FF2B5EF4-FFF2-40B4-BE49-F238E27FC236}">
                <a16:creationId xmlns:a16="http://schemas.microsoft.com/office/drawing/2014/main" id="{C29B4AD4-B75B-4DD1-A7B6-6EEEA13C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1581150" cy="2095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11430">
            <a:solidFill>
              <a:srgbClr val="FFFFFF">
                <a:alpha val="78431"/>
              </a:srgbClr>
            </a:solidFill>
            <a:prstDash val="solid"/>
          </a:ln>
        </p:spPr>
      </p:sp>
      <p:sp>
        <p:nvSpPr>
          <p:cNvPr id="41" name="member-luo-card-highlight">
            <a:extLst xmlns:a="http://schemas.openxmlformats.org/drawingml/2006/main">
              <a:ext uri="{FF2B5EF4-FFF2-40B4-BE49-F238E27FC236}">
                <a16:creationId xmlns:a16="http://schemas.microsoft.com/office/drawing/2014/main" id="{1B6B2A66-185C-49E9-8515-3BC04E48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13144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>
              <a:alpha val="3529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81430376b4c0a"/>
          <a:stretch xmlns:a="http://schemas.openxmlformats.org/drawingml/2006/main"/>
        </p:blipFill>
        <p:spPr>
          <a:xfrm xmlns:a="http://schemas.openxmlformats.org/drawingml/2006/main">
            <a:off x="8096250" y="2171700"/>
            <a:ext cx="1352550" cy="1428750"/>
          </a:xfrm>
          <a:prstGeom xmlns:a="http://schemas.openxmlformats.org/drawingml/2006/main" prst="rect">
            <a:avLst/>
          </a:prstGeom>
        </p:spPr>
      </p:pic>
      <p:sp>
        <p:nvSpPr>
          <p:cNvPr id="43" name="member-luo-name">
            <a:extLst xmlns:a="http://schemas.openxmlformats.org/drawingml/2006/main">
              <a:ext uri="{FF2B5EF4-FFF2-40B4-BE49-F238E27FC236}">
                <a16:creationId xmlns:a16="http://schemas.microsoft.com/office/drawing/2014/main" id="{E0256192-26FB-4EE0-B066-FA450F57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罗茂兵</a:t>
            </a:r>
          </a:p>
        </p:txBody>
      </p:sp>
      <p:sp>
        <p:nvSpPr>
          <p:cNvPr id="44" name="member-chen-card-shadow">
            <a:extLst xmlns:a="http://schemas.openxmlformats.org/drawingml/2006/main">
              <a:ext uri="{FF2B5EF4-FFF2-40B4-BE49-F238E27FC236}">
                <a16:creationId xmlns:a16="http://schemas.microsoft.com/office/drawing/2014/main" id="{23916DAE-01E3-442B-B5A7-A4588E79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57400"/>
            <a:ext cx="1581150" cy="2095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64E63">
              <a:alpha val="1882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member-chen-card">
            <a:extLst xmlns:a="http://schemas.openxmlformats.org/drawingml/2006/main">
              <a:ext uri="{FF2B5EF4-FFF2-40B4-BE49-F238E27FC236}">
                <a16:creationId xmlns:a16="http://schemas.microsoft.com/office/drawing/2014/main" id="{54FDC3A4-8817-43CD-AA2A-69D6F36E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81200"/>
            <a:ext cx="1581150" cy="2095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>
              <a:alpha val="43922"/>
            </a:srgbClr>
          </a:solidFill>
          <a:ln xmlns:a="http://schemas.openxmlformats.org/drawingml/2006/main" w="11430">
            <a:solidFill>
              <a:srgbClr val="FFFFFF">
                <a:alpha val="78431"/>
              </a:srgbClr>
            </a:solidFill>
            <a:prstDash val="solid"/>
          </a:ln>
        </p:spPr>
      </p:sp>
      <p:sp>
        <p:nvSpPr>
          <p:cNvPr id="46" name="member-chen-card-highlight">
            <a:extLst xmlns:a="http://schemas.openxmlformats.org/drawingml/2006/main">
              <a:ext uri="{FF2B5EF4-FFF2-40B4-BE49-F238E27FC236}">
                <a16:creationId xmlns:a16="http://schemas.microsoft.com/office/drawing/2014/main" id="{E5DE8B7A-50AE-4CD7-99E4-725D6887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3144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>
              <a:alpha val="3529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d96128a104219"/>
          <a:stretch xmlns:a="http://schemas.openxmlformats.org/drawingml/2006/main"/>
        </p:blipFill>
        <p:spPr>
          <a:xfrm xmlns:a="http://schemas.openxmlformats.org/drawingml/2006/main">
            <a:off x="9791700" y="2171700"/>
            <a:ext cx="1352550" cy="1428750"/>
          </a:xfrm>
          <a:prstGeom xmlns:a="http://schemas.openxmlformats.org/drawingml/2006/main" prst="rect">
            <a:avLst/>
          </a:prstGeom>
        </p:spPr>
      </p:pic>
      <p:sp>
        <p:nvSpPr>
          <p:cNvPr id="48" name="member-chen-name">
            <a:extLst xmlns:a="http://schemas.openxmlformats.org/drawingml/2006/main">
              <a:ext uri="{FF2B5EF4-FFF2-40B4-BE49-F238E27FC236}">
                <a16:creationId xmlns:a16="http://schemas.microsoft.com/office/drawing/2014/main" id="{6A033392-51F9-4E3C-B5F9-7AE45D6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766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陈小敬</a:t>
            </a:r>
          </a:p>
        </p:txBody>
      </p:sp>
      <p:sp>
        <p:nvSpPr>
          <p:cNvPr id="49" name="advantage-panel-shadow">
            <a:extLst xmlns:a="http://schemas.openxmlformats.org/drawingml/2006/main">
              <a:ext uri="{FF2B5EF4-FFF2-40B4-BE49-F238E27FC236}">
                <a16:creationId xmlns:a16="http://schemas.microsoft.com/office/drawing/2014/main" id="{E581D992-0A4E-4A21-9102-B3763123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91025"/>
            <a:ext cx="7391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>
              <a:alpha val="11765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advantage-panel">
            <a:extLst xmlns:a="http://schemas.openxmlformats.org/drawingml/2006/main">
              <a:ext uri="{FF2B5EF4-FFF2-40B4-BE49-F238E27FC236}">
                <a16:creationId xmlns:a16="http://schemas.microsoft.com/office/drawing/2014/main" id="{E9D171B6-75AC-445A-A063-EA975E59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7391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>
              <a:alpha val="42745"/>
            </a:srgbClr>
          </a:solidFill>
          <a:ln xmlns:a="http://schemas.openxmlformats.org/drawingml/2006/main" w="11430">
            <a:solidFill>
              <a:srgbClr val="FFFFFF">
                <a:alpha val="84706"/>
              </a:srgbClr>
            </a:solidFill>
            <a:prstDash val="solid"/>
          </a:ln>
        </p:spPr>
      </p:sp>
      <p:sp>
        <p:nvSpPr>
          <p:cNvPr id="51" name="advantage-panel-highlight">
            <a:extLst xmlns:a="http://schemas.openxmlformats.org/drawingml/2006/main">
              <a:ext uri="{FF2B5EF4-FFF2-40B4-BE49-F238E27FC236}">
                <a16:creationId xmlns:a16="http://schemas.microsoft.com/office/drawing/2014/main" id="{51C0E720-EAB8-4775-952D-62595986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71247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>
              <a:alpha val="3529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advantage-title">
            <a:extLst xmlns:a="http://schemas.openxmlformats.org/drawingml/2006/main">
              <a:ext uri="{FF2B5EF4-FFF2-40B4-BE49-F238E27FC236}">
                <a16:creationId xmlns:a16="http://schemas.microsoft.com/office/drawing/2014/main" id="{44053DDF-724B-43BB-916E-A398F0E0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33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团队优势</a:t>
            </a:r>
          </a:p>
        </p:txBody>
      </p:sp>
      <p:sp>
        <p:nvSpPr>
          <p:cNvPr id="53" name="advantage-rule">
            <a:extLst xmlns:a="http://schemas.openxmlformats.org/drawingml/2006/main">
              <a:ext uri="{FF2B5EF4-FFF2-40B4-BE49-F238E27FC236}">
                <a16:creationId xmlns:a16="http://schemas.microsoft.com/office/drawing/2014/main" id="{08D4EAFC-3980-427F-9E29-6E9E968C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14900"/>
            <a:ext cx="65246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>
              <a:alpha val="2902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advantage-copy-1">
            <a:extLst xmlns:a="http://schemas.openxmlformats.org/drawingml/2006/main">
              <a:ext uri="{FF2B5EF4-FFF2-40B4-BE49-F238E27FC236}">
                <a16:creationId xmlns:a16="http://schemas.microsoft.com/office/drawing/2014/main" id="{356FD145-AB16-484B-B4C9-F9FEFC1A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659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8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负责人深耕传音项目管理10年，熟悉三级研发体系与产研系统设计逻辑；团队擅长在不开发新系统的情况下，利用现有数据完成分析、清洗与跨系统引用。</a:t>
            </a:r>
          </a:p>
        </p:txBody>
      </p:sp>
      <p:sp>
        <p:nvSpPr>
          <p:cNvPr id="55" name="advantage-copy-2">
            <a:extLst xmlns:a="http://schemas.openxmlformats.org/drawingml/2006/main">
              <a:ext uri="{FF2B5EF4-FFF2-40B4-BE49-F238E27FC236}">
                <a16:creationId xmlns:a16="http://schemas.microsoft.com/office/drawing/2014/main" id="{E9E9D55E-AB72-4BD7-BE40-8FC88C4F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62600"/>
            <a:ext cx="659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8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成员覆盖系统开发、AI产品管理、质量运营管理与 bug sentry 自动化分析系统开发经验，AI2D 基本功扎实，能把数据治理、AI分析和工程实现连成闭环。</a:t>
            </a:r>
          </a:p>
        </p:txBody>
      </p:sp>
      <p:sp>
        <p:nvSpPr>
          <p:cNvPr id="56" name="chip-数据同源">
            <a:extLst xmlns:a="http://schemas.openxmlformats.org/drawingml/2006/main">
              <a:ext uri="{FF2B5EF4-FFF2-40B4-BE49-F238E27FC236}">
                <a16:creationId xmlns:a16="http://schemas.microsoft.com/office/drawing/2014/main" id="{E355D36E-C41F-4563-A76E-B9942F4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0007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47059"/>
            </a:srgbClr>
          </a:solidFill>
          <a:ln xmlns:a="http://schemas.openxmlformats.org/drawingml/2006/main" w="9525">
            <a:solidFill>
              <a:srgbClr val="FFFFFF">
                <a:alpha val="83137"/>
              </a:srgbClr>
            </a:solidFill>
            <a:prstDash val="solid"/>
          </a:ln>
        </p:spPr>
      </p:sp>
      <p:sp>
        <p:nvSpPr>
          <p:cNvPr id="57" name="chip-dot-数据同源">
            <a:extLst xmlns:a="http://schemas.openxmlformats.org/drawingml/2006/main">
              <a:ext uri="{FF2B5EF4-FFF2-40B4-BE49-F238E27FC236}">
                <a16:creationId xmlns:a16="http://schemas.microsoft.com/office/drawing/2014/main" id="{B6C9167F-6F8C-4DBD-9A16-6976037F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105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chip-label-数据同源">
            <a:extLst xmlns:a="http://schemas.openxmlformats.org/drawingml/2006/main">
              <a:ext uri="{FF2B5EF4-FFF2-40B4-BE49-F238E27FC236}">
                <a16:creationId xmlns:a16="http://schemas.microsoft.com/office/drawing/2014/main" id="{3FC211BA-1D80-44DE-A68B-6EF72B6F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388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数据同源</a:t>
            </a:r>
          </a:p>
        </p:txBody>
      </p:sp>
      <p:sp>
        <p:nvSpPr>
          <p:cNvPr id="59" name="chip-跨系统引用">
            <a:extLst xmlns:a="http://schemas.openxmlformats.org/drawingml/2006/main">
              <a:ext uri="{FF2B5EF4-FFF2-40B4-BE49-F238E27FC236}">
                <a16:creationId xmlns:a16="http://schemas.microsoft.com/office/drawing/2014/main" id="{21033D3B-EA60-410C-BCE0-66C29AC5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000750"/>
            <a:ext cx="1295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47059"/>
            </a:srgbClr>
          </a:solidFill>
          <a:ln xmlns:a="http://schemas.openxmlformats.org/drawingml/2006/main" w="9525">
            <a:solidFill>
              <a:srgbClr val="FFFFFF">
                <a:alpha val="83137"/>
              </a:srgbClr>
            </a:solidFill>
            <a:prstDash val="solid"/>
          </a:ln>
        </p:spPr>
      </p:sp>
      <p:sp>
        <p:nvSpPr>
          <p:cNvPr id="60" name="chip-dot-跨系统引用">
            <a:extLst xmlns:a="http://schemas.openxmlformats.org/drawingml/2006/main">
              <a:ext uri="{FF2B5EF4-FFF2-40B4-BE49-F238E27FC236}">
                <a16:creationId xmlns:a16="http://schemas.microsoft.com/office/drawing/2014/main" id="{B89F7293-4BA5-453B-B6F8-962BCD31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105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chip-label-跨系统引用">
            <a:extLst xmlns:a="http://schemas.openxmlformats.org/drawingml/2006/main">
              <a:ext uri="{FF2B5EF4-FFF2-40B4-BE49-F238E27FC236}">
                <a16:creationId xmlns:a16="http://schemas.microsoft.com/office/drawing/2014/main" id="{0512D7F1-964C-4BA0-9A8B-043CC93F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0388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跨系统引用</a:t>
            </a:r>
          </a:p>
        </p:txBody>
      </p:sp>
      <p:sp>
        <p:nvSpPr>
          <p:cNvPr id="62" name="chip-AI拟合分析">
            <a:extLst xmlns:a="http://schemas.openxmlformats.org/drawingml/2006/main">
              <a:ext uri="{FF2B5EF4-FFF2-40B4-BE49-F238E27FC236}">
                <a16:creationId xmlns:a16="http://schemas.microsoft.com/office/drawing/2014/main" id="{9C9B9194-9B7B-4FFE-8BC0-3722F35B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000750"/>
            <a:ext cx="1295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47059"/>
            </a:srgbClr>
          </a:solidFill>
          <a:ln xmlns:a="http://schemas.openxmlformats.org/drawingml/2006/main" w="9525">
            <a:solidFill>
              <a:srgbClr val="FFFFFF">
                <a:alpha val="83137"/>
              </a:srgbClr>
            </a:solidFill>
            <a:prstDash val="solid"/>
          </a:ln>
        </p:spPr>
      </p:sp>
      <p:sp>
        <p:nvSpPr>
          <p:cNvPr id="63" name="chip-dot-AI拟合分析">
            <a:extLst xmlns:a="http://schemas.openxmlformats.org/drawingml/2006/main">
              <a:ext uri="{FF2B5EF4-FFF2-40B4-BE49-F238E27FC236}">
                <a16:creationId xmlns:a16="http://schemas.microsoft.com/office/drawing/2014/main" id="{BD665FF6-43A4-4637-9ACF-0B0B10B9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105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8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chip-label-AI拟合分析">
            <a:extLst xmlns:a="http://schemas.openxmlformats.org/drawingml/2006/main">
              <a:ext uri="{FF2B5EF4-FFF2-40B4-BE49-F238E27FC236}">
                <a16:creationId xmlns:a16="http://schemas.microsoft.com/office/drawing/2014/main" id="{6CD01214-55BE-4151-9C03-F3612E35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03885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AI拟合分析</a:t>
            </a:r>
          </a:p>
        </p:txBody>
      </p:sp>
      <p:sp>
        <p:nvSpPr>
          <p:cNvPr id="65" name="chip-现有系统增效">
            <a:extLst xmlns:a="http://schemas.openxmlformats.org/drawingml/2006/main">
              <a:ext uri="{FF2B5EF4-FFF2-40B4-BE49-F238E27FC236}">
                <a16:creationId xmlns:a16="http://schemas.microsoft.com/office/drawing/2014/main" id="{8C647990-F4AA-4065-8679-ADE44FCB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000750"/>
            <a:ext cx="1447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47059"/>
            </a:srgbClr>
          </a:solidFill>
          <a:ln xmlns:a="http://schemas.openxmlformats.org/drawingml/2006/main" w="9525">
            <a:solidFill>
              <a:srgbClr val="FFFFFF">
                <a:alpha val="83137"/>
              </a:srgbClr>
            </a:solidFill>
            <a:prstDash val="solid"/>
          </a:ln>
        </p:spPr>
      </p:sp>
      <p:sp>
        <p:nvSpPr>
          <p:cNvPr id="66" name="chip-dot-现有系统增效">
            <a:extLst xmlns:a="http://schemas.openxmlformats.org/drawingml/2006/main">
              <a:ext uri="{FF2B5EF4-FFF2-40B4-BE49-F238E27FC236}">
                <a16:creationId xmlns:a16="http://schemas.microsoft.com/office/drawing/2014/main" id="{1073309E-3730-4F5D-BB7C-5CBCA8A6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105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chip-label-现有系统增效">
            <a:extLst xmlns:a="http://schemas.openxmlformats.org/drawingml/2006/main">
              <a:ext uri="{FF2B5EF4-FFF2-40B4-BE49-F238E27FC236}">
                <a16:creationId xmlns:a16="http://schemas.microsoft.com/office/drawing/2014/main" id="{2CAFC8DE-69E8-4FE8-A5EC-3176D9A7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388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现有系统增效</a:t>
            </a:r>
          </a:p>
        </p:txBody>
      </p:sp>
      <p:sp>
        <p:nvSpPr>
          <p:cNvPr id="68" name="footer-top">
            <a:extLst xmlns:a="http://schemas.openxmlformats.org/drawingml/2006/main">
              <a:ext uri="{FF2B5EF4-FFF2-40B4-BE49-F238E27FC236}">
                <a16:creationId xmlns:a16="http://schemas.microsoft.com/office/drawing/2014/main" id="{BDC4013B-A9CC-4D02-860D-5CEDBF60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Hackathon · Team Introduction</a:t>
            </a:r>
          </a:p>
        </p:txBody>
      </p:sp>
    </p:spTree>
    <p:extLst>
      <p:ext uri="{BB962C8B-B14F-4D97-AF65-F5344CB8AC3E}">
        <p14:creationId xmlns:p14="http://schemas.microsoft.com/office/powerpoint/2010/main" val="517741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2026-06-05T13:12:05.4580000Z</dcterms:created>
  <dcterms:modified xsi:type="dcterms:W3CDTF">2026-06-05T13:12:05.4580000Z</dcterms:modified>
</coreProperties>
</file>